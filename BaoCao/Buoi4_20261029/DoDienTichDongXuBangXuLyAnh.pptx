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Be Vietnam Pro" pitchFamily="34" charset="0"/>
      <p:regular r:id="rId24"/>
      <p:bold r:id="rId25"/>
    </p:embeddedFont>
    <p:embeddedFont>
      <p:font typeface="Noto Serif" panose="02020502060505020204" pitchFamily="18" charset="0"/>
      <p:regular r:id="rId26"/>
      <p:bold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đề tài: đo diện tích bề mặt đồng xu từ ảnh chụp thẳng từ trên xuống. Trình bày phương pháp, các phương trình dùng ở từng bước và kết quả thử trên ảnh dongxu2.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Máy tính chỉ thấy ảnh là các pixel, mỗi pixel là một số độ sáng. Quy trình gồm 5 bước: hiệu chuẩn để đổi pixel sang mm, tiền xử lý để tách đồng xu khỏi nền, tìm đồng xu và biên chính xác, tính diện tích, rồi kiểm chứng. Hai cách tính dùng chung bước 1 đến 3: cách A đếm pixel, cách B đo đường kính rồi dùng công thức hình tròn.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Máy chỉ đo được pixel, nên cần một vật biết trước kích thước. Thay cây thước bằng bàn cờ: mỗi chỗ bốn ô gặp nhau là một góc rất rõ, máy tự tìm được 54 góc. Vị trí thật của các góc biết ngay vì các ô cách đều. Từ đó tính tỉ lệ k, và tính ma trận H mô tả góc nhìn của camera; dùng H nghịch đảo để nắn ảnh về dạng nhìn thẳng. Bàn cờ phải kê cao bằng mặt đồng xu.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Lọc Gauss thay mỗi pixel bằng trung bình có trọng số của nó và các pixel xung quanh; pixel càng gần thì trọng số càng lớn, theo hàm Gauss. Ba bước: tính trọng số, chuẩn hoá cho tổng bằng 1, nhân với độ sáng rồi cộng lại. Chấm nhiễu bị hoà loãng vào nền nên biến mất; viền đồng xu không bị dịch vì trọng số đối xứng hai bên. Chọn σ = 2: vùng lấy trung bình lớn hơn nhiều so với chấm nhiễu 1–2 pixel nhưng chỉ bằng 4–7% bán kính đồng xu. Kích thước nhân 2·3σ+1 =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thấy rõ cách lọc, xét bảng trọng số 3 × 3: ô giữa trọng số 4, ô cạnh 2, ô góc 1, tổng 16 nên chia cho 16. Vùng ảnh có một chấm nhiễu 30 giữa nền 200. Thuật toán đi qua từng pixel, đặt bảng trọng số với pixel đó ở giữa, nhân và cộng lại. Ô giữa: chấm nhiễu nhận trọng số 4, tám ô nền có tổng trọng số 12, ra 157,5. Ô cạnh: chấm nhiễu nằm ngay bên cạnh nên nhận trọng số 2, ra 178,8. Ô góc: chấm nhiễu nằm chéo nên nhận trọng số 1, ra 189,4. Mọi phép tính dùng ảnh gốc, kết quả ghi vào ảnh mới. Với ngưỡng 125, trước lọc ô giữa bị nhận nhầm là đồng xu, sau lọc tất cả đều trên 125 nên là nền: chấm nhiễu đã bị hoà loãng và xoá. Chương trình thực tế dùng σ = 2, bảng 13 × 13, chấm nhiễu còn khoảng 193.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ngưỡng chia ảnh xám thành hai màu: tối hơn T là đồng xu, sáng hơn là nền. Otsu tự tìm T: thử mọi giá trị và chọn T làm phương sai giữa hai nhóm lớn nhất, tức hai nhóm cách xa nhau và cân đối nhất. Ví dụ 10 pixel: đồng xu có 4 pixel độ sáng 50 và 2 pixel độ sáng 60, giấy có 1 pixel 190 và 3 pixel 200. Với T = 55, hai pixel đồng xu bị xếp nhầm sang nền. Với T = 195, một pixel giấy bị xếp nhầm vào đồng xu. Chỉ T = 100 chia đúng, và cũng là ngưỡng có σ²_B lớn nhất. Ảnh dongxu2 cho T = 118. Không phải chọn ngưỡng bằng tay và ngưỡng tự thay đổi theo ánh sáng.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nhị phân có thể có nhiều vùng trắng. Chương trình kiểm tra hai điều kiện: độ tròn C và độ lấp đầy E. Chỉ dùng độ tròn thì chưa đủ vì bát giác có C = 0,95, còn cao hơn hình tròn trên ảnh pixel. Độ lấp đầy so diện tích vùng với đường tròn nhỏ nhất bao quanh nó, nên loại được hình có góc cạnh hoặc bị dẹt. Vùng không đạt thì bị bỏ; nếu không còn vùng nào, chương trình báo không tìm thấy đồng xu thay vì đoán. Tâm và bán kính r₀ của đường tròn bao dùng cho bước tìm biên.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chỉ dùng pixel thì viền chỉ nằm ở vị trí nguyên. Biên dưới pixel tìm viền chính xác đến phần lẻ. Bốn bước: kẻ 720 tia từ tâm, mỗi tia cách 0,5 độ; đọc độ sáng dọc tia bằng nội suy song tuyến; viền là chỗ độ sáng thay đổi mạnh nhất, tức gradient lớn nhất; vẽ parabol qua 3 giá trị gradient quanh đỉnh để biết đỉnh thật lệch bao nhiêu. Ví dụ: gradient lớn nhất ở 138, nhưng bên trái cao hơn bên phải nên đỉnh thật ở 137,61. Kết quả là 720 điểm biên dùng cho cả hai cách.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Cách A làm đúng như tên gọi. Ngưỡng lấy bằng trung vị độ sáng tại 720 điểm biên, nên ranh giới khi đếm trùng với viền thật. Chỉ giữ pixel trong vòng tròn 1,06 lần bán kính để loại vật khác; đây chỉ là hàng rào, viền vẫn do ngưỡng quyết định. Đếm được N pixel, mỗi pixel là ô vuông cạnh k nên diện tích là N nhân k bình phương. Ưu điểm: đơn giản, đo được cả vật không tròn. Nhược điểm: không tự loại bóng đổ hay thành bên.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Đồng xu là hình tròn nên chỉ cần đường kính. Bước 1: khớp Kasa biến phương trình đường tròn thành phương trình bậc nhất, giải ngay bằng bình phương tối thiểu, dùng làm điểm xuất phát. Bước 2: khớp hình học tìm đường tròn để tổng bình phương khoảng cách thật từ các điểm đến đường tròn nhỏ nhất, giải lặp bằng least_squares, chỉ khoảng 4 lần lặp. Bước 3: điểm lệch quá 3 sigma gần như chắc chắn là điểm lạ (bóng, thành bên), bỏ đi rồi khớp lại. Ảnh minh hoạ loại 28 trên 720 điểm ở chỗ thành bên. Với xu game thực tế, đường kính 553,68 pixel, tức 25,40 mm, diện tích 506,6 mm².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Thử nghiệm thực tế dùng điện thoại đặt cố định trên giá. Chụp bàn cờ một lần ở đúng chỗ đặt vật, kê cao bằng mặt vật; chương trình tìm 54 góc, tính ma trận nắn H và tỉ lệ k, lưu vào file. Sau đó bỏ bàn cờ, chỉ chụp vật. Với xu bạc trên nền trắng, vành phản sáng lẫn vào nền nên độ tròn chỉ 0,64 và bị loại; chuyển sang nền đen thì tách trọn vẹn. Nắp chai xanh có độ sáng gần bằng giấy trắng nên dùng kênh bão hòa màu S: giấy gần như không màu, nắp màu đậm. Ảnh xu có thêm một vật lạ để kiểm tra bước chọn vật tròn.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chụp cố định gồm hai lệnh. Lệnh co_dinh đọc một ảnh bàn cờ đặt đúng chỗ đặt vật, tìm 54 góc, tính ma trận nắn H và tỉ lệ k, lưu vào file he_chup.npz. Sau đó bỏ bàn cờ, chỉ chụp vật; lệnh do_dien_tich với tùy chọn he-chup tự nắn ảnh và đổi sang mm. Những gì đã làm được: hiệu chuẩn bằng một ảnh với sai lệch khoảng 0,7 pixel; hiệu chuẩn riêng cho từng độ cao vật, vì xu và nắp chai có tỉ lệ chênh nhau 7,8%; chương trình báo lỗi nếu ảnh chụp khác độ phân giải; chọn nền và kênh màu phù hợp với vật; loại vật lạ không tròn; thuật toán ổn định. Giới hạn là chỉ chính xác khi vật ở giữa ảnh và rất nhạy với độ cao bàn cờ.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 game: đường tròn khớp ôm sát mép, độ lệch còn lại 1,94 pixel, hai cách chỉ chênh 0,33%, vật lạ bên cạnh bị loại vì không tròn. So với đường kính danh nghĩa 25 mm, cách B cho 25,40 mm, tức dư 1,6% đường kính và 3,2% diện tích. Nắp chai: trên ảnh xám nắp và giấy gần như cùng độ sáng nên không tách được; dùng kênh bão hòa màu thì tách tốt, độ lệch 1,35 pixel, hai cách chênh 0,28%, đường kính 29,67 mm. Chưa có số đo chuẩn tin cậy cho nắp chai, cần đo lại bằng thước kẹp qua mép ngoài.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phương trình kiểm chứng. Thứ nhất, so hai cách với nhau: chênh nhỏ nghĩa là tách nền ổn định. Thứ hai, diện tích tỉ lệ với bình phương kích thước nên sai số kích thước nhân đôi khi sang diện tích. Áp dụng cho ba nguồn: viền theo pixel nguyên khoảng 0,7%, hiệu chuẩn bằng thước trên ảnh nghiêng tới 5,6%, độ dày đồng xu khoảng 1,3%. Nguồn lớn nhất là hiệu chuẩn, nên dùng bàn cờ và kê bàn cờ cao bằng mặt vật.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mọi lần đo, phần thuật toán đều ổn định: độ lệch còn lại dưới 2 pixel, khoảng 0,09 mm, và hai cách chênh nhau dưới 0,5%. Sai số đến từ tỉ lệ mm trên pixel, tức từ độ cao bàn cờ lúc hiệu chuẩn. Kích thước trên ảnh tỉ lệ nghịch với khoảng cách đến camera, nên sai số đường kính xấp xỉ độ chênh cao chia khoảng cách camera. Camera cách khoảng 14 cm thì lệch 1 mm đã sai 0,7% đường kính, 1,4% diện tích. Kê bằng chồng giấy trên vải mềm không chỉnh được dưới 1 mm: lần 1 thiếu nên dư 2,8%, lần 2 thừa nên thiếu 2%, lần 3 dư 1,6%. Thêm vào đó xu lún vào vải, camera hơi nghiêng và giá trị 25 mm chỉ là danh nghĩa. Cải tiến: kê bàn cờ bằng 4 xu cùng loại trên mặt bàn cứng, đặt camera cao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chụp cố định hiện tại chỉ chính xác ở giữa ảnh. Hướng phát triển là thêm hiệu chuẩn ống kính theo phương pháp Zhang: chụp 15 đến 20 ảnh bàn cờ ở nhiều vị trí và góc để tìm tiêu cự, tâm ảnh và hệ số méo. Việc này chỉ làm một lần cho mỗi camera hoặc mỗi mức zoom, không làm lại cho từng vật. Khi đã biết thông số ống kính, chương trình khử méo cả khung hình và từ một ảnh bàn cờ tính được khoảng cách camera Z và góc nghiêng. Từ đó tính được tỉ lệ cho bất kỳ độ cao vật nào, và tính được phần thành bên lộ ra khi vật ở rìa ảnh, để lấy đúng mép mặt trên. Mục tiêu là đo chính xác vật ở mọi vị trí trong khung hình mà không phải kê bàn cờ lại theo từng vật.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cả hai cách dùng chung hiệu chuẩn, tiền xử lý và biên dưới pixel. Cách A đơn giản và áp dụng được cho vật không tròn nhưng đếm lẫn bóng đổ. Cách B khớp đường tròn và tự loại điểm lệch nên chính xác hơn, xu game đo được 506,6 mm², dư 3,2% so với giá trị danh nghĩa do độ cao bàn cờ. Sai số chủ yếu đến từ điều kiện chụp và hiệu chuẩn. Đã dựng được hệ chụp cố định với bàn cờ. Việc tiếp theo là hiệu chuẩn ống kính để đo vật ở mọi vị trí trên ảnh, kê bàn cờ chính xác hơn, so với thước kẹp và chuyển sang camera Basler.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5" y="1178499"/>
            <a:ext cx="10566357" cy="408855"/>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85" y="1892153"/>
            <a:ext cx="10566415" cy="4153047"/>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5" y="1178499"/>
            <a:ext cx="10566357" cy="408855"/>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85" y="1892153"/>
            <a:ext cx="10566415" cy="4153047"/>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785" y="1808721"/>
            <a:ext cx="7246935" cy="274255"/>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59E6B"/>
                </a:solidFill>
                <a:latin typeface="Be Vietnam Pro" pitchFamily="34" charset="0"/>
                <a:ea typeface="Be Vietnam Pro" pitchFamily="34" charset="-122"/>
                <a:cs typeface="Be Vietnam Pro" pitchFamily="34" charset="-120"/>
              </a:rPr>
              <a:t>ĐỒ ÁN </a:t>
            </a:r>
            <a:endParaRPr lang="en-US" sz="1400" dirty="0"/>
          </a:p>
        </p:txBody>
      </p:sp>
      <p:sp>
        <p:nvSpPr>
          <p:cNvPr id="3" name="Text 1"/>
          <p:cNvSpPr/>
          <p:nvPr>
            <p:ph type="title"/>
          </p:nvPr>
        </p:nvSpPr>
        <p:spPr>
          <a:xfrm>
            <a:off x="812785" y="2311503"/>
            <a:ext cx="7246935" cy="1366397"/>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7F6F2"/>
                </a:solidFill>
                <a:latin typeface="Be Vietnam Pro" pitchFamily="34" charset="0"/>
                <a:ea typeface="Be Vietnam Pro" pitchFamily="34" charset="-122"/>
                <a:cs typeface="Be Vietnam Pro" pitchFamily="34" charset="-120"/>
              </a:rPr>
              <a:t>Đo diện tích đồng xu bằng xử lý ảnh</a:t>
            </a:r>
            <a:endParaRPr lang="en-US" sz="4800" dirty="0"/>
          </a:p>
        </p:txBody>
      </p:sp>
      <p:sp>
        <p:nvSpPr>
          <p:cNvPr id="4" name="Text 2"/>
          <p:cNvSpPr/>
          <p:nvPr/>
        </p:nvSpPr>
        <p:spPr>
          <a:xfrm>
            <a:off x="812785" y="3906426"/>
            <a:ext cx="7246935" cy="665398"/>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1DE"/>
                </a:solidFill>
                <a:latin typeface="Be Vietnam Pro" pitchFamily="34" charset="0"/>
                <a:ea typeface="Be Vietnam Pro" pitchFamily="34" charset="-122"/>
                <a:cs typeface="Be Vietnam Pro" pitchFamily="34" charset="-120"/>
              </a:rPr>
              <a:t>Phương pháp và phương trình của hai cách tính: đếm pixel và qua đường kính</a:t>
            </a:r>
            <a:endParaRPr lang="en-US" sz="1800" dirty="0"/>
          </a:p>
        </p:txBody>
      </p:sp>
      <p:sp>
        <p:nvSpPr>
          <p:cNvPr id="5" name="Text 3"/>
          <p:cNvSpPr/>
          <p:nvPr/>
        </p:nvSpPr>
        <p:spPr>
          <a:xfrm>
            <a:off x="812785" y="4800351"/>
            <a:ext cx="7246935"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1DE"/>
                </a:solidFill>
                <a:latin typeface="Be Vietnam Pro" pitchFamily="34" charset="0"/>
                <a:ea typeface="Be Vietnam Pro" pitchFamily="34" charset="-122"/>
                <a:cs typeface="Be Vietnam Pro" pitchFamily="34" charset="-120"/>
              </a:rPr>
              <a:t>Phạm Tuấn Khanh</a:t>
            </a:r>
            <a:endParaRPr lang="en-US" sz="1400" dirty="0"/>
          </a:p>
        </p:txBody>
      </p:sp>
      <p:pic>
        <p:nvPicPr>
          <p:cNvPr id="6" name="Image 0" descr="Ảnh thử dongxu2: đồng xu đặt cạnh thước kẻ">    </p:cNvPr>
          <p:cNvPicPr>
            <a:picLocks noChangeAspect="1"/>
          </p:cNvPicPr>
          <p:nvPr/>
        </p:nvPicPr>
        <p:blipFill>
          <a:blip r:embed="rId1"/>
          <a:srcRect l="15" r="15" t="0" b="0"/>
          <a:stretch/>
        </p:blipFill>
        <p:spPr>
          <a:xfrm>
            <a:off x="8458216" y="831821"/>
            <a:ext cx="2920927" cy="5194286"/>
          </a:xfrm>
          <a:prstGeom prst="roundRect">
            <a:avLst>
              <a:gd name="adj" fmla="val 5218"/>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5" y="812785"/>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TỔNG QUAN</a:t>
            </a:r>
            <a:endParaRPr lang="en-US" sz="1200" dirty="0"/>
          </a:p>
        </p:txBody>
      </p:sp>
      <p:sp>
        <p:nvSpPr>
          <p:cNvPr id="3" name="Text 1"/>
          <p:cNvSpPr/>
          <p:nvPr>
            <p:ph type="title"/>
          </p:nvPr>
        </p:nvSpPr>
        <p:spPr>
          <a:xfrm>
            <a:off x="812785" y="1178499"/>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Từ ảnh pixel đến diện tích mm² qua 5 bước</a:t>
            </a:r>
            <a:endParaRPr lang="en-US" sz="2800" dirty="0"/>
          </a:p>
        </p:txBody>
      </p:sp>
      <p:sp>
        <p:nvSpPr>
          <p:cNvPr id="4" name="Shape 2"/>
          <p:cNvSpPr/>
          <p:nvPr/>
        </p:nvSpPr>
        <p:spPr>
          <a:xfrm>
            <a:off x="815960" y="1742884"/>
            <a:ext cx="2027488" cy="1719910"/>
          </a:xfrm>
          <a:prstGeom prst="roundRect">
            <a:avLst>
              <a:gd name="adj" fmla="val 5723"/>
            </a:avLst>
          </a:prstGeom>
          <a:solidFill>
            <a:srgbClr val="FFFFFF"/>
          </a:solidFill>
          <a:ln w="6350">
            <a:solidFill>
              <a:srgbClr val="E2E4E8"/>
            </a:solidFill>
            <a:prstDash val="solid"/>
          </a:ln>
        </p:spPr>
      </p:sp>
      <p:sp>
        <p:nvSpPr>
          <p:cNvPr id="5" name="Text 3"/>
          <p:cNvSpPr/>
          <p:nvPr/>
        </p:nvSpPr>
        <p:spPr>
          <a:xfrm>
            <a:off x="995274" y="1922198"/>
            <a:ext cx="1719660"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Be Vietnam Pro" pitchFamily="34" charset="0"/>
                <a:ea typeface="Be Vietnam Pro" pitchFamily="34" charset="-122"/>
                <a:cs typeface="Be Vietnam Pro" pitchFamily="34" charset="-120"/>
              </a:rPr>
              <a:t>1</a:t>
            </a:r>
            <a:endParaRPr lang="en-US" sz="2200" dirty="0"/>
          </a:p>
        </p:txBody>
      </p:sp>
      <p:sp>
        <p:nvSpPr>
          <p:cNvPr id="6" name="Text 4"/>
          <p:cNvSpPr/>
          <p:nvPr/>
        </p:nvSpPr>
        <p:spPr>
          <a:xfrm>
            <a:off x="995274" y="2364126"/>
            <a:ext cx="1719660" cy="253971"/>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Be Vietnam Pro" pitchFamily="34" charset="0"/>
                <a:ea typeface="Be Vietnam Pro" pitchFamily="34" charset="-122"/>
                <a:cs typeface="Be Vietnam Pro" pitchFamily="34" charset="-120"/>
              </a:rPr>
              <a:t>Hiệu chuẩn</a:t>
            </a:r>
            <a:endParaRPr lang="en-US" sz="1500" dirty="0"/>
          </a:p>
        </p:txBody>
      </p:sp>
      <p:sp>
        <p:nvSpPr>
          <p:cNvPr id="7" name="Text 5"/>
          <p:cNvSpPr/>
          <p:nvPr/>
        </p:nvSpPr>
        <p:spPr>
          <a:xfrm>
            <a:off x="995274" y="2643482"/>
            <a:ext cx="171966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Đổi pixel sang mm bằng bàn cờ</a:t>
            </a:r>
            <a:endParaRPr lang="en-US" sz="1200" dirty="0"/>
          </a:p>
        </p:txBody>
      </p:sp>
      <p:sp>
        <p:nvSpPr>
          <p:cNvPr id="8" name="Shape 6"/>
          <p:cNvSpPr/>
          <p:nvPr/>
        </p:nvSpPr>
        <p:spPr>
          <a:xfrm>
            <a:off x="2951369" y="1742884"/>
            <a:ext cx="2027561" cy="1719910"/>
          </a:xfrm>
          <a:prstGeom prst="roundRect">
            <a:avLst>
              <a:gd name="adj" fmla="val 5723"/>
            </a:avLst>
          </a:prstGeom>
          <a:solidFill>
            <a:srgbClr val="FFFFFF"/>
          </a:solidFill>
          <a:ln w="6350">
            <a:solidFill>
              <a:srgbClr val="E2E4E8"/>
            </a:solidFill>
            <a:prstDash val="solid"/>
          </a:ln>
        </p:spPr>
      </p:sp>
      <p:sp>
        <p:nvSpPr>
          <p:cNvPr id="9" name="Text 7"/>
          <p:cNvSpPr/>
          <p:nvPr/>
        </p:nvSpPr>
        <p:spPr>
          <a:xfrm>
            <a:off x="3130683" y="1922198"/>
            <a:ext cx="1719733"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Be Vietnam Pro" pitchFamily="34" charset="0"/>
                <a:ea typeface="Be Vietnam Pro" pitchFamily="34" charset="-122"/>
                <a:cs typeface="Be Vietnam Pro" pitchFamily="34" charset="-120"/>
              </a:rPr>
              <a:t>2</a:t>
            </a:r>
            <a:endParaRPr lang="en-US" sz="2200" dirty="0"/>
          </a:p>
        </p:txBody>
      </p:sp>
      <p:sp>
        <p:nvSpPr>
          <p:cNvPr id="10" name="Text 8"/>
          <p:cNvSpPr/>
          <p:nvPr/>
        </p:nvSpPr>
        <p:spPr>
          <a:xfrm>
            <a:off x="3130683" y="2364126"/>
            <a:ext cx="1719733" cy="253971"/>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Be Vietnam Pro" pitchFamily="34" charset="0"/>
                <a:ea typeface="Be Vietnam Pro" pitchFamily="34" charset="-122"/>
                <a:cs typeface="Be Vietnam Pro" pitchFamily="34" charset="-120"/>
              </a:rPr>
              <a:t>Tiền xử lý</a:t>
            </a:r>
            <a:endParaRPr lang="en-US" sz="1500" dirty="0"/>
          </a:p>
        </p:txBody>
      </p:sp>
      <p:sp>
        <p:nvSpPr>
          <p:cNvPr id="11" name="Text 9"/>
          <p:cNvSpPr/>
          <p:nvPr/>
        </p:nvSpPr>
        <p:spPr>
          <a:xfrm>
            <a:off x="3130683" y="2643482"/>
            <a:ext cx="171973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Ảnh xám, lọc Gauss, phân ngưỡng Otsu</a:t>
            </a:r>
            <a:endParaRPr lang="en-US" sz="1200" dirty="0"/>
          </a:p>
        </p:txBody>
      </p:sp>
      <p:sp>
        <p:nvSpPr>
          <p:cNvPr id="12" name="Shape 10"/>
          <p:cNvSpPr/>
          <p:nvPr/>
        </p:nvSpPr>
        <p:spPr>
          <a:xfrm>
            <a:off x="5086850" y="1742884"/>
            <a:ext cx="2027561" cy="1719910"/>
          </a:xfrm>
          <a:prstGeom prst="roundRect">
            <a:avLst>
              <a:gd name="adj" fmla="val 5723"/>
            </a:avLst>
          </a:prstGeom>
          <a:solidFill>
            <a:srgbClr val="FFFFFF"/>
          </a:solidFill>
          <a:ln w="6350">
            <a:solidFill>
              <a:srgbClr val="E2E4E8"/>
            </a:solidFill>
            <a:prstDash val="solid"/>
          </a:ln>
        </p:spPr>
      </p:sp>
      <p:sp>
        <p:nvSpPr>
          <p:cNvPr id="13" name="Text 11"/>
          <p:cNvSpPr/>
          <p:nvPr/>
        </p:nvSpPr>
        <p:spPr>
          <a:xfrm>
            <a:off x="5266165" y="1922198"/>
            <a:ext cx="1719733"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Be Vietnam Pro" pitchFamily="34" charset="0"/>
                <a:ea typeface="Be Vietnam Pro" pitchFamily="34" charset="-122"/>
                <a:cs typeface="Be Vietnam Pro" pitchFamily="34" charset="-120"/>
              </a:rPr>
              <a:t>3</a:t>
            </a:r>
            <a:endParaRPr lang="en-US" sz="2200" dirty="0"/>
          </a:p>
        </p:txBody>
      </p:sp>
      <p:sp>
        <p:nvSpPr>
          <p:cNvPr id="14" name="Text 12"/>
          <p:cNvSpPr/>
          <p:nvPr/>
        </p:nvSpPr>
        <p:spPr>
          <a:xfrm>
            <a:off x="5266165" y="2364126"/>
            <a:ext cx="1719733" cy="482541"/>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Be Vietnam Pro" pitchFamily="34" charset="0"/>
                <a:ea typeface="Be Vietnam Pro" pitchFamily="34" charset="-122"/>
                <a:cs typeface="Be Vietnam Pro" pitchFamily="34" charset="-120"/>
              </a:rPr>
              <a:t>Tìm đồng xu và biên</a:t>
            </a:r>
            <a:endParaRPr lang="en-US" sz="1500" dirty="0"/>
          </a:p>
        </p:txBody>
      </p:sp>
      <p:sp>
        <p:nvSpPr>
          <p:cNvPr id="15" name="Text 13"/>
          <p:cNvSpPr/>
          <p:nvPr/>
        </p:nvSpPr>
        <p:spPr>
          <a:xfrm>
            <a:off x="5266165" y="2872053"/>
            <a:ext cx="171973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Độ tròn, độ lấp đầy, biên dưới pixel</a:t>
            </a:r>
            <a:endParaRPr lang="en-US" sz="1200" dirty="0"/>
          </a:p>
        </p:txBody>
      </p:sp>
      <p:sp>
        <p:nvSpPr>
          <p:cNvPr id="16" name="Shape 14"/>
          <p:cNvSpPr/>
          <p:nvPr/>
        </p:nvSpPr>
        <p:spPr>
          <a:xfrm>
            <a:off x="7219157" y="1739709"/>
            <a:ext cx="2024504" cy="1726260"/>
          </a:xfrm>
          <a:prstGeom prst="roundRect">
            <a:avLst>
              <a:gd name="adj" fmla="val 5886"/>
            </a:avLst>
          </a:prstGeom>
          <a:solidFill>
            <a:srgbClr val="14213D"/>
          </a:solidFill>
          <a:ln/>
        </p:spPr>
      </p:sp>
      <p:sp>
        <p:nvSpPr>
          <p:cNvPr id="17" name="Text 15"/>
          <p:cNvSpPr/>
          <p:nvPr/>
        </p:nvSpPr>
        <p:spPr>
          <a:xfrm>
            <a:off x="7396942" y="1917495"/>
            <a:ext cx="1719733"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59E6B"/>
                </a:solidFill>
                <a:latin typeface="Be Vietnam Pro" pitchFamily="34" charset="0"/>
                <a:ea typeface="Be Vietnam Pro" pitchFamily="34" charset="-122"/>
                <a:cs typeface="Be Vietnam Pro" pitchFamily="34" charset="-120"/>
              </a:rPr>
              <a:t>4</a:t>
            </a:r>
            <a:endParaRPr lang="en-US" sz="2200" dirty="0"/>
          </a:p>
        </p:txBody>
      </p:sp>
      <p:sp>
        <p:nvSpPr>
          <p:cNvPr id="18" name="Text 16"/>
          <p:cNvSpPr/>
          <p:nvPr/>
        </p:nvSpPr>
        <p:spPr>
          <a:xfrm>
            <a:off x="7396942" y="2359423"/>
            <a:ext cx="1719733" cy="253971"/>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6F2"/>
                </a:solidFill>
                <a:latin typeface="Be Vietnam Pro" pitchFamily="34" charset="0"/>
                <a:ea typeface="Be Vietnam Pro" pitchFamily="34" charset="-122"/>
                <a:cs typeface="Be Vietnam Pro" pitchFamily="34" charset="-120"/>
              </a:rPr>
              <a:t>Tính diện tích</a:t>
            </a:r>
            <a:endParaRPr lang="en-US" sz="1500" dirty="0"/>
          </a:p>
        </p:txBody>
      </p:sp>
      <p:sp>
        <p:nvSpPr>
          <p:cNvPr id="19" name="Text 17"/>
          <p:cNvSpPr/>
          <p:nvPr/>
        </p:nvSpPr>
        <p:spPr>
          <a:xfrm>
            <a:off x="7396942" y="2638778"/>
            <a:ext cx="171973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1DE"/>
                </a:solidFill>
                <a:latin typeface="Be Vietnam Pro" pitchFamily="34" charset="0"/>
                <a:ea typeface="Be Vietnam Pro" pitchFamily="34" charset="-122"/>
                <a:cs typeface="Be Vietnam Pro" pitchFamily="34" charset="-120"/>
              </a:rPr>
              <a:t>Hai cách A và B</a:t>
            </a:r>
            <a:endParaRPr lang="en-US" sz="1200" dirty="0"/>
          </a:p>
        </p:txBody>
      </p:sp>
      <p:sp>
        <p:nvSpPr>
          <p:cNvPr id="20" name="Shape 18"/>
          <p:cNvSpPr/>
          <p:nvPr/>
        </p:nvSpPr>
        <p:spPr>
          <a:xfrm>
            <a:off x="9348407" y="1742884"/>
            <a:ext cx="2027561" cy="1719910"/>
          </a:xfrm>
          <a:prstGeom prst="roundRect">
            <a:avLst>
              <a:gd name="adj" fmla="val 5723"/>
            </a:avLst>
          </a:prstGeom>
          <a:solidFill>
            <a:srgbClr val="FFFFFF"/>
          </a:solidFill>
          <a:ln w="6350">
            <a:solidFill>
              <a:srgbClr val="E2E4E8"/>
            </a:solidFill>
            <a:prstDash val="solid"/>
          </a:ln>
        </p:spPr>
      </p:sp>
      <p:sp>
        <p:nvSpPr>
          <p:cNvPr id="21" name="Text 19"/>
          <p:cNvSpPr/>
          <p:nvPr/>
        </p:nvSpPr>
        <p:spPr>
          <a:xfrm>
            <a:off x="9527721" y="1922198"/>
            <a:ext cx="1719733"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Be Vietnam Pro" pitchFamily="34" charset="0"/>
                <a:ea typeface="Be Vietnam Pro" pitchFamily="34" charset="-122"/>
                <a:cs typeface="Be Vietnam Pro" pitchFamily="34" charset="-120"/>
              </a:rPr>
              <a:t>5</a:t>
            </a:r>
            <a:endParaRPr lang="en-US" sz="2200" dirty="0"/>
          </a:p>
        </p:txBody>
      </p:sp>
      <p:sp>
        <p:nvSpPr>
          <p:cNvPr id="22" name="Text 20"/>
          <p:cNvSpPr/>
          <p:nvPr/>
        </p:nvSpPr>
        <p:spPr>
          <a:xfrm>
            <a:off x="9527721" y="2364126"/>
            <a:ext cx="1719733" cy="253971"/>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Be Vietnam Pro" pitchFamily="34" charset="0"/>
                <a:ea typeface="Be Vietnam Pro" pitchFamily="34" charset="-122"/>
                <a:cs typeface="Be Vietnam Pro" pitchFamily="34" charset="-120"/>
              </a:rPr>
              <a:t>Kiểm chứng</a:t>
            </a:r>
            <a:endParaRPr lang="en-US" sz="1500" dirty="0"/>
          </a:p>
        </p:txBody>
      </p:sp>
      <p:sp>
        <p:nvSpPr>
          <p:cNvPr id="23" name="Text 21"/>
          <p:cNvSpPr/>
          <p:nvPr/>
        </p:nvSpPr>
        <p:spPr>
          <a:xfrm>
            <a:off x="9527721" y="2643482"/>
            <a:ext cx="1719733"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So hai cách, ước lượng sai số</a:t>
            </a:r>
            <a:endParaRPr lang="en-US" sz="1200" dirty="0"/>
          </a:p>
        </p:txBody>
      </p:sp>
      <p:sp>
        <p:nvSpPr>
          <p:cNvPr id="24" name="Text 22"/>
          <p:cNvSpPr/>
          <p:nvPr/>
        </p:nvSpPr>
        <p:spPr>
          <a:xfrm>
            <a:off x="812785" y="3618325"/>
            <a:ext cx="10883348"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Be Vietnam Pro" pitchFamily="34" charset="0"/>
                <a:ea typeface="Be Vietnam Pro" pitchFamily="34" charset="-122"/>
                <a:cs typeface="Be Vietnam Pro" pitchFamily="34" charset="-120"/>
              </a:rPr>
              <a:t>Bước 1–3 dùng chung; hai cách chỉ khác nhau ở bước 4:</a:t>
            </a:r>
            <a:endParaRPr lang="en-US" sz="1400" dirty="0"/>
          </a:p>
        </p:txBody>
      </p:sp>
      <p:sp>
        <p:nvSpPr>
          <p:cNvPr id="25" name="Shape 23"/>
          <p:cNvSpPr/>
          <p:nvPr/>
        </p:nvSpPr>
        <p:spPr>
          <a:xfrm>
            <a:off x="812785" y="4019536"/>
            <a:ext cx="5207001" cy="914283"/>
          </a:xfrm>
          <a:prstGeom prst="roundRect">
            <a:avLst>
              <a:gd name="adj" fmla="val 11113"/>
            </a:avLst>
          </a:prstGeom>
          <a:solidFill>
            <a:srgbClr val="EEF1F4"/>
          </a:solidFill>
          <a:ln/>
        </p:spPr>
      </p:sp>
      <p:sp>
        <p:nvSpPr>
          <p:cNvPr id="26" name="Text 24"/>
          <p:cNvSpPr/>
          <p:nvPr/>
        </p:nvSpPr>
        <p:spPr>
          <a:xfrm>
            <a:off x="1066712" y="4222677"/>
            <a:ext cx="3439365"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Cách A – Đếm pixel</a:t>
            </a:r>
            <a:endParaRPr lang="en-US" sz="1600" dirty="0"/>
          </a:p>
        </p:txBody>
      </p:sp>
      <p:sp>
        <p:nvSpPr>
          <p:cNvPr id="27" name="Text 25"/>
          <p:cNvSpPr/>
          <p:nvPr/>
        </p:nvSpPr>
        <p:spPr>
          <a:xfrm>
            <a:off x="1066712" y="4517320"/>
            <a:ext cx="3439365"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Đếm số pixel thuộc đồng xu</a:t>
            </a:r>
            <a:endParaRPr lang="en-US" sz="1200" dirty="0"/>
          </a:p>
        </p:txBody>
      </p:sp>
      <p:sp>
        <p:nvSpPr>
          <p:cNvPr id="28" name="Text 26"/>
          <p:cNvSpPr/>
          <p:nvPr/>
        </p:nvSpPr>
        <p:spPr>
          <a:xfrm>
            <a:off x="4609042" y="4281106"/>
            <a:ext cx="1207617" cy="416542"/>
          </a:xfrm>
          <a:prstGeom prst="rect">
            <a:avLst/>
          </a:prstGeom>
          <a:noFill/>
          <a:ln/>
        </p:spPr>
        <p:txBody>
          <a:bodyPr wrap="none" lIns="0" tIns="0" rIns="0" bIns="0" rtlCol="0" anchor="t">
            <a:normAutofit/>
          </a:bodyPr>
          <a:lstStyle/>
          <a:p>
            <a:pPr algn="l" indent="0" marL="0">
              <a:lnSpc>
                <a:spcPts val="3080"/>
              </a:lnSpc>
              <a:buNone/>
            </a:pPr>
            <a:r>
              <a:rPr lang="en-US" sz="2200" dirty="0">
                <a:solidFill>
                  <a:srgbClr val="0F766E"/>
                </a:solidFill>
                <a:latin typeface="Noto Serif" pitchFamily="18" charset="0"/>
                <a:ea typeface="Noto Serif" pitchFamily="18" charset="-122"/>
                <a:cs typeface="Noto Serif" pitchFamily="18" charset="-120"/>
              </a:rPr>
              <a:t>S = N · k²</a:t>
            </a:r>
            <a:endParaRPr lang="en-US" sz="2200" dirty="0"/>
          </a:p>
        </p:txBody>
      </p:sp>
      <p:sp>
        <p:nvSpPr>
          <p:cNvPr id="29" name="Shape 27"/>
          <p:cNvSpPr/>
          <p:nvPr/>
        </p:nvSpPr>
        <p:spPr>
          <a:xfrm>
            <a:off x="6172142" y="4019536"/>
            <a:ext cx="5207001" cy="914283"/>
          </a:xfrm>
          <a:prstGeom prst="roundRect">
            <a:avLst>
              <a:gd name="adj" fmla="val 11113"/>
            </a:avLst>
          </a:prstGeom>
          <a:solidFill>
            <a:srgbClr val="EEF1F4"/>
          </a:solidFill>
          <a:ln/>
        </p:spPr>
      </p:sp>
      <p:sp>
        <p:nvSpPr>
          <p:cNvPr id="30" name="Text 28"/>
          <p:cNvSpPr/>
          <p:nvPr/>
        </p:nvSpPr>
        <p:spPr>
          <a:xfrm>
            <a:off x="6426069" y="4222677"/>
            <a:ext cx="3070780"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Cách B – Qua đường kính</a:t>
            </a:r>
            <a:endParaRPr lang="en-US" sz="1600" dirty="0"/>
          </a:p>
        </p:txBody>
      </p:sp>
      <p:sp>
        <p:nvSpPr>
          <p:cNvPr id="31" name="Text 29"/>
          <p:cNvSpPr/>
          <p:nvPr/>
        </p:nvSpPr>
        <p:spPr>
          <a:xfrm>
            <a:off x="6426069" y="4517320"/>
            <a:ext cx="3070780"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Khớp đường tròn, lấy đường kính</a:t>
            </a:r>
            <a:endParaRPr lang="en-US" sz="1200" dirty="0"/>
          </a:p>
        </p:txBody>
      </p:sp>
      <p:sp>
        <p:nvSpPr>
          <p:cNvPr id="32" name="Text 30"/>
          <p:cNvSpPr/>
          <p:nvPr/>
        </p:nvSpPr>
        <p:spPr>
          <a:xfrm>
            <a:off x="9610550" y="4281106"/>
            <a:ext cx="1565466" cy="416542"/>
          </a:xfrm>
          <a:prstGeom prst="rect">
            <a:avLst/>
          </a:prstGeom>
          <a:noFill/>
          <a:ln/>
        </p:spPr>
        <p:txBody>
          <a:bodyPr wrap="none" lIns="0" tIns="0" rIns="0" bIns="0" rtlCol="0" anchor="t">
            <a:normAutofit/>
          </a:bodyPr>
          <a:lstStyle/>
          <a:p>
            <a:pPr algn="l" indent="0" marL="0">
              <a:lnSpc>
                <a:spcPts val="3080"/>
              </a:lnSpc>
              <a:buNone/>
            </a:pPr>
            <a:r>
              <a:rPr lang="en-US" sz="2200" dirty="0">
                <a:solidFill>
                  <a:srgbClr val="0F766E"/>
                </a:solidFill>
                <a:latin typeface="Noto Serif" pitchFamily="18" charset="0"/>
                <a:ea typeface="Noto Serif" pitchFamily="18" charset="-122"/>
                <a:cs typeface="Noto Serif" pitchFamily="18" charset="-120"/>
              </a:rPr>
              <a:t>S = π · d² / 4</a:t>
            </a:r>
            <a:endParaRPr lang="en-US" sz="2200" dirty="0"/>
          </a:p>
        </p:txBody>
      </p:sp>
      <p:sp>
        <p:nvSpPr>
          <p:cNvPr id="33" name="Text 31"/>
          <p:cNvSpPr/>
          <p:nvPr/>
        </p:nvSpPr>
        <p:spPr>
          <a:xfrm>
            <a:off x="812785" y="6238215"/>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5" y="812786"/>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BƯỚC 1 · HIỆU CHUẨN</a:t>
            </a:r>
            <a:endParaRPr lang="en-US" sz="1200" dirty="0"/>
          </a:p>
        </p:txBody>
      </p:sp>
      <p:sp>
        <p:nvSpPr>
          <p:cNvPr id="3" name="Text 1"/>
          <p:cNvSpPr/>
          <p:nvPr>
            <p:ph type="title"/>
          </p:nvPr>
        </p:nvSpPr>
        <p:spPr>
          <a:xfrm>
            <a:off x="812785" y="1178499"/>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Bàn cờ cho 54 điểm mốc để đổi pixel sang mm</a:t>
            </a:r>
            <a:endParaRPr lang="en-US" sz="2800" dirty="0"/>
          </a:p>
        </p:txBody>
      </p:sp>
      <p:sp>
        <p:nvSpPr>
          <p:cNvPr id="4" name="Shape 2"/>
          <p:cNvSpPr/>
          <p:nvPr/>
        </p:nvSpPr>
        <p:spPr>
          <a:xfrm>
            <a:off x="812785" y="1739709"/>
            <a:ext cx="6857927" cy="2730427"/>
          </a:xfrm>
          <a:prstGeom prst="roundRect">
            <a:avLst>
              <a:gd name="adj" fmla="val 2791"/>
            </a:avLst>
          </a:prstGeom>
          <a:solidFill>
            <a:srgbClr val="FFFFFF"/>
          </a:solidFill>
          <a:ln/>
        </p:spPr>
      </p:sp>
      <p:pic>
        <p:nvPicPr>
          <p:cNvPr id="5" name="Image 0" descr="Trái: ảnh chụp nghiêng có bàn cờ, các góc trong được đánh dấu. Phải: ảnh sau khi nắn, nhìn thẳng">    </p:cNvPr>
          <p:cNvPicPr>
            <a:picLocks noChangeAspect="1"/>
          </p:cNvPicPr>
          <p:nvPr/>
        </p:nvPicPr>
        <p:blipFill>
          <a:blip r:embed="rId1"/>
          <a:srcRect l="-8" r="-8" t="0" b="0"/>
          <a:stretch/>
        </p:blipFill>
        <p:spPr>
          <a:xfrm>
            <a:off x="812785" y="1739709"/>
            <a:ext cx="6857927" cy="2730427"/>
          </a:xfrm>
          <a:prstGeom prst="roundRect">
            <a:avLst>
              <a:gd name="adj" fmla="val 2791"/>
            </a:avLst>
          </a:prstGeom>
        </p:spPr>
      </p:pic>
      <p:sp>
        <p:nvSpPr>
          <p:cNvPr id="6" name="Text 3"/>
          <p:cNvSpPr/>
          <p:nvPr/>
        </p:nvSpPr>
        <p:spPr>
          <a:xfrm>
            <a:off x="812785" y="4597064"/>
            <a:ext cx="7063665"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Bàn cờ 10 × 7 ô, cạnh ô a đã biết → 9 × 6 = 54 góc trong, máy tự tìm chính xác dưới pixel. Ô phải vuông đều, nên ảnh nghiêng được nắn lại.</a:t>
            </a:r>
            <a:endParaRPr lang="en-US" sz="1300" dirty="0"/>
          </a:p>
        </p:txBody>
      </p:sp>
      <p:sp>
        <p:nvSpPr>
          <p:cNvPr id="7" name="Shape 4"/>
          <p:cNvSpPr/>
          <p:nvPr/>
        </p:nvSpPr>
        <p:spPr>
          <a:xfrm>
            <a:off x="7978673" y="1742884"/>
            <a:ext cx="3397295" cy="843698"/>
          </a:xfrm>
          <a:prstGeom prst="roundRect">
            <a:avLst>
              <a:gd name="adj" fmla="val 8655"/>
            </a:avLst>
          </a:prstGeom>
          <a:solidFill>
            <a:srgbClr val="FFFFFF"/>
          </a:solidFill>
          <a:ln w="6350">
            <a:solidFill>
              <a:srgbClr val="E2E4E8"/>
            </a:solidFill>
            <a:prstDash val="solid"/>
          </a:ln>
        </p:spPr>
      </p:sp>
      <p:sp>
        <p:nvSpPr>
          <p:cNvPr id="8" name="Text 5"/>
          <p:cNvSpPr/>
          <p:nvPr/>
        </p:nvSpPr>
        <p:spPr>
          <a:xfrm>
            <a:off x="8157987" y="1896769"/>
            <a:ext cx="3129826"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X = c · a, Y = r · a</a:t>
            </a:r>
            <a:endParaRPr lang="en-US" sz="1600" dirty="0"/>
          </a:p>
        </p:txBody>
      </p:sp>
      <p:sp>
        <p:nvSpPr>
          <p:cNvPr id="9" name="Text 6"/>
          <p:cNvSpPr/>
          <p:nvPr/>
        </p:nvSpPr>
        <p:spPr>
          <a:xfrm>
            <a:off x="8157987" y="2219341"/>
            <a:ext cx="312982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Vị trí thật của góc cột c, hàng r</a:t>
            </a:r>
            <a:endParaRPr lang="en-US" sz="1200" dirty="0"/>
          </a:p>
        </p:txBody>
      </p:sp>
      <p:sp>
        <p:nvSpPr>
          <p:cNvPr id="10" name="Shape 7"/>
          <p:cNvSpPr/>
          <p:nvPr/>
        </p:nvSpPr>
        <p:spPr>
          <a:xfrm>
            <a:off x="7978673" y="2719859"/>
            <a:ext cx="3397295" cy="1057055"/>
          </a:xfrm>
          <a:prstGeom prst="roundRect">
            <a:avLst>
              <a:gd name="adj" fmla="val 6908"/>
            </a:avLst>
          </a:prstGeom>
          <a:solidFill>
            <a:srgbClr val="FFFFFF"/>
          </a:solidFill>
          <a:ln w="6350">
            <a:solidFill>
              <a:srgbClr val="E2E4E8"/>
            </a:solidFill>
            <a:prstDash val="solid"/>
          </a:ln>
        </p:spPr>
      </p:sp>
      <p:sp>
        <p:nvSpPr>
          <p:cNvPr id="11" name="Text 8"/>
          <p:cNvSpPr/>
          <p:nvPr/>
        </p:nvSpPr>
        <p:spPr>
          <a:xfrm>
            <a:off x="8157987" y="2873744"/>
            <a:ext cx="3129826"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k = a / d̄</a:t>
            </a:r>
            <a:endParaRPr lang="en-US" sz="1600" dirty="0"/>
          </a:p>
        </p:txBody>
      </p:sp>
      <p:sp>
        <p:nvSpPr>
          <p:cNvPr id="12" name="Text 9"/>
          <p:cNvSpPr/>
          <p:nvPr/>
        </p:nvSpPr>
        <p:spPr>
          <a:xfrm>
            <a:off x="8157987" y="3196315"/>
            <a:ext cx="3129826"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Tỉ lệ mm/pixel; d̄ = khoảng cách trung bình hai góc kề</a:t>
            </a:r>
            <a:endParaRPr lang="en-US" sz="1200" dirty="0"/>
          </a:p>
        </p:txBody>
      </p:sp>
      <p:sp>
        <p:nvSpPr>
          <p:cNvPr id="13" name="Shape 10"/>
          <p:cNvSpPr/>
          <p:nvPr/>
        </p:nvSpPr>
        <p:spPr>
          <a:xfrm>
            <a:off x="7978673" y="3910189"/>
            <a:ext cx="3397295" cy="1057055"/>
          </a:xfrm>
          <a:prstGeom prst="roundRect">
            <a:avLst>
              <a:gd name="adj" fmla="val 6908"/>
            </a:avLst>
          </a:prstGeom>
          <a:solidFill>
            <a:srgbClr val="FFFFFF"/>
          </a:solidFill>
          <a:ln w="6350">
            <a:solidFill>
              <a:srgbClr val="E2E4E8"/>
            </a:solidFill>
            <a:prstDash val="solid"/>
          </a:ln>
        </p:spPr>
      </p:sp>
      <p:sp>
        <p:nvSpPr>
          <p:cNvPr id="14" name="Text 11"/>
          <p:cNvSpPr/>
          <p:nvPr/>
        </p:nvSpPr>
        <p:spPr>
          <a:xfrm>
            <a:off x="8157987" y="4064074"/>
            <a:ext cx="3129826"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s·[u v 1]ᵀ = H·[X Y 1]ᵀ</a:t>
            </a:r>
            <a:endParaRPr lang="en-US" sz="1600" dirty="0"/>
          </a:p>
        </p:txBody>
      </p:sp>
      <p:sp>
        <p:nvSpPr>
          <p:cNvPr id="15" name="Text 12"/>
          <p:cNvSpPr/>
          <p:nvPr/>
        </p:nvSpPr>
        <p:spPr>
          <a:xfrm>
            <a:off x="8157987" y="4386645"/>
            <a:ext cx="3129826"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Homography H (8 ẩn), 54 cặp điểm → 108 phương trình; nắn ảnh bằng H⁻¹</a:t>
            </a:r>
            <a:endParaRPr lang="en-US" sz="1200" dirty="0"/>
          </a:p>
        </p:txBody>
      </p:sp>
      <p:sp>
        <p:nvSpPr>
          <p:cNvPr id="16" name="Text 13"/>
          <p:cNvSpPr/>
          <p:nvPr/>
        </p:nvSpPr>
        <p:spPr>
          <a:xfrm>
            <a:off x="812785" y="6238215"/>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5" y="812786"/>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BƯỚC 2 · TIỀN XỬ LÝ — LỌC GAUSS</a:t>
            </a:r>
            <a:endParaRPr lang="en-US" sz="1200" dirty="0"/>
          </a:p>
        </p:txBody>
      </p:sp>
      <p:sp>
        <p:nvSpPr>
          <p:cNvPr id="3" name="Text 1"/>
          <p:cNvSpPr/>
          <p:nvPr>
            <p:ph type="title"/>
          </p:nvPr>
        </p:nvSpPr>
        <p:spPr>
          <a:xfrm>
            <a:off x="812785" y="1178499"/>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Làm mịn ảnh để xoá chấm nhiễu, giữ nguyên viền</a:t>
            </a:r>
            <a:endParaRPr lang="en-US" sz="2800" dirty="0"/>
          </a:p>
        </p:txBody>
      </p:sp>
      <p:sp>
        <p:nvSpPr>
          <p:cNvPr id="4" name="Shape 2"/>
          <p:cNvSpPr/>
          <p:nvPr/>
        </p:nvSpPr>
        <p:spPr>
          <a:xfrm>
            <a:off x="812785" y="1739709"/>
            <a:ext cx="10566357" cy="2539927"/>
          </a:xfrm>
          <a:prstGeom prst="roundRect">
            <a:avLst>
              <a:gd name="adj" fmla="val 3000"/>
            </a:avLst>
          </a:prstGeom>
          <a:solidFill>
            <a:srgbClr val="FFFFFF"/>
          </a:solidFill>
          <a:ln/>
        </p:spPr>
      </p:sp>
      <p:pic>
        <p:nvPicPr>
          <p:cNvPr id="5" name="Image 0" descr="Bảng trọng số Gauss 13×13; vùng ảnh có chấm nhiễu trước lọc; cùng vùng sau lọc, nhiễu bị xoá">    </p:cNvPr>
          <p:cNvPicPr>
            <a:picLocks noChangeAspect="1"/>
          </p:cNvPicPr>
          <p:nvPr/>
        </p:nvPicPr>
        <p:blipFill>
          <a:blip r:embed="rId1"/>
          <a:stretch>
            <a:fillRect/>
          </a:stretch>
        </p:blipFill>
        <p:spPr>
          <a:xfrm>
            <a:off x="2094076" y="1739709"/>
            <a:ext cx="8003776" cy="2539927"/>
          </a:xfrm>
          <a:prstGeom prst="rect">
            <a:avLst/>
          </a:prstGeom>
        </p:spPr>
      </p:pic>
      <p:sp>
        <p:nvSpPr>
          <p:cNvPr id="6" name="Shape 3"/>
          <p:cNvSpPr/>
          <p:nvPr/>
        </p:nvSpPr>
        <p:spPr>
          <a:xfrm>
            <a:off x="815960" y="4435168"/>
            <a:ext cx="4133130" cy="843698"/>
          </a:xfrm>
          <a:prstGeom prst="roundRect">
            <a:avLst>
              <a:gd name="adj" fmla="val 8655"/>
            </a:avLst>
          </a:prstGeom>
          <a:solidFill>
            <a:srgbClr val="FFFFFF"/>
          </a:solidFill>
          <a:ln w="6350">
            <a:solidFill>
              <a:srgbClr val="E2E4E8"/>
            </a:solidFill>
            <a:prstDash val="solid"/>
          </a:ln>
        </p:spPr>
      </p:sp>
      <p:sp>
        <p:nvSpPr>
          <p:cNvPr id="7" name="Text 4"/>
          <p:cNvSpPr/>
          <p:nvPr/>
        </p:nvSpPr>
        <p:spPr>
          <a:xfrm>
            <a:off x="995274" y="4589052"/>
            <a:ext cx="3887737"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G(x, y) = 1/(2πσ²) · e^(−(x² + y²)/(2σ²))</a:t>
            </a:r>
            <a:endParaRPr lang="en-US" sz="1600" dirty="0"/>
          </a:p>
        </p:txBody>
      </p:sp>
      <p:sp>
        <p:nvSpPr>
          <p:cNvPr id="8" name="Text 5"/>
          <p:cNvSpPr/>
          <p:nvPr/>
        </p:nvSpPr>
        <p:spPr>
          <a:xfrm>
            <a:off x="995274" y="4911624"/>
            <a:ext cx="388773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Trọng số theo khoảng cách; càng gần càng lớn</a:t>
            </a:r>
            <a:endParaRPr lang="en-US" sz="1200" dirty="0"/>
          </a:p>
        </p:txBody>
      </p:sp>
      <p:sp>
        <p:nvSpPr>
          <p:cNvPr id="9" name="Shape 6"/>
          <p:cNvSpPr/>
          <p:nvPr/>
        </p:nvSpPr>
        <p:spPr>
          <a:xfrm>
            <a:off x="5107797" y="4435168"/>
            <a:ext cx="3054733" cy="843698"/>
          </a:xfrm>
          <a:prstGeom prst="roundRect">
            <a:avLst>
              <a:gd name="adj" fmla="val 8655"/>
            </a:avLst>
          </a:prstGeom>
          <a:solidFill>
            <a:srgbClr val="FFFFFF"/>
          </a:solidFill>
          <a:ln w="6350">
            <a:solidFill>
              <a:srgbClr val="E2E4E8"/>
            </a:solidFill>
            <a:prstDash val="solid"/>
          </a:ln>
        </p:spPr>
      </p:sp>
      <p:sp>
        <p:nvSpPr>
          <p:cNvPr id="10" name="Text 7"/>
          <p:cNvSpPr/>
          <p:nvPr/>
        </p:nvSpPr>
        <p:spPr>
          <a:xfrm>
            <a:off x="5287111" y="4589052"/>
            <a:ext cx="2776988"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I_mịn = Σ G × I</a:t>
            </a:r>
            <a:endParaRPr lang="en-US" sz="1600" dirty="0"/>
          </a:p>
        </p:txBody>
      </p:sp>
      <p:sp>
        <p:nvSpPr>
          <p:cNvPr id="11" name="Text 8"/>
          <p:cNvSpPr/>
          <p:nvPr/>
        </p:nvSpPr>
        <p:spPr>
          <a:xfrm>
            <a:off x="5287111" y="4911624"/>
            <a:ext cx="277698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Chấm nhiễu 30 giữa nền 200 → 193</a:t>
            </a:r>
            <a:endParaRPr lang="en-US" sz="1200" dirty="0"/>
          </a:p>
        </p:txBody>
      </p:sp>
      <p:sp>
        <p:nvSpPr>
          <p:cNvPr id="12" name="Shape 9"/>
          <p:cNvSpPr/>
          <p:nvPr/>
        </p:nvSpPr>
        <p:spPr>
          <a:xfrm>
            <a:off x="8321235" y="4435168"/>
            <a:ext cx="3054733" cy="843698"/>
          </a:xfrm>
          <a:prstGeom prst="roundRect">
            <a:avLst>
              <a:gd name="adj" fmla="val 8655"/>
            </a:avLst>
          </a:prstGeom>
          <a:solidFill>
            <a:srgbClr val="FFFFFF"/>
          </a:solidFill>
          <a:ln w="6350">
            <a:solidFill>
              <a:srgbClr val="E2E4E8"/>
            </a:solidFill>
            <a:prstDash val="solid"/>
          </a:ln>
        </p:spPr>
      </p:sp>
      <p:sp>
        <p:nvSpPr>
          <p:cNvPr id="13" name="Text 10"/>
          <p:cNvSpPr/>
          <p:nvPr/>
        </p:nvSpPr>
        <p:spPr>
          <a:xfrm>
            <a:off x="8500549" y="4589052"/>
            <a:ext cx="2776988"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2 · 3σ + 1 = 13</a:t>
            </a:r>
            <a:endParaRPr lang="en-US" sz="1600" dirty="0"/>
          </a:p>
        </p:txBody>
      </p:sp>
      <p:sp>
        <p:nvSpPr>
          <p:cNvPr id="14" name="Text 11"/>
          <p:cNvSpPr/>
          <p:nvPr/>
        </p:nvSpPr>
        <p:spPr>
          <a:xfrm>
            <a:off x="8500549" y="4911624"/>
            <a:ext cx="277698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σ = 2 → nhân 13 × 13 (quy tắc 3σ)</a:t>
            </a:r>
            <a:endParaRPr lang="en-US" sz="1200" dirty="0"/>
          </a:p>
        </p:txBody>
      </p:sp>
      <p:sp>
        <p:nvSpPr>
          <p:cNvPr id="15" name="Text 12"/>
          <p:cNvSpPr/>
          <p:nvPr/>
        </p:nvSpPr>
        <p:spPr>
          <a:xfrm>
            <a:off x="812785" y="6238216"/>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4 · OpenCV: cv2.GaussianBlur(gray, (0, 0), 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BƯỚC 2 · LỌC GAUSS — VÍ DỤ</a:t>
            </a:r>
            <a:endParaRPr lang="en-US" sz="1200" dirty="0"/>
          </a:p>
        </p:txBody>
      </p:sp>
      <p:sp>
        <p:nvSpPr>
          <p:cNvPr id="3" name="Text 1"/>
          <p:cNvSpPr/>
          <p:nvPr>
            <p:ph type="title"/>
          </p:nvPr>
        </p:nvSpPr>
        <p:spPr>
          <a:xfrm>
            <a:off x="812785" y="1178499"/>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Một chấm nhiễu 30 giữa nền giấy 200</a:t>
            </a:r>
            <a:endParaRPr lang="en-US" sz="2800" dirty="0"/>
          </a:p>
        </p:txBody>
      </p:sp>
      <p:sp>
        <p:nvSpPr>
          <p:cNvPr id="4" name="Text 2"/>
          <p:cNvSpPr/>
          <p:nvPr/>
        </p:nvSpPr>
        <p:spPr>
          <a:xfrm>
            <a:off x="812785" y="1739711"/>
            <a:ext cx="3244134"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766E"/>
                </a:solidFill>
                <a:latin typeface="Be Vietnam Pro" pitchFamily="34" charset="0"/>
                <a:ea typeface="Be Vietnam Pro" pitchFamily="34" charset="-122"/>
                <a:cs typeface="Be Vietnam Pro" pitchFamily="34" charset="-120"/>
              </a:rPr>
              <a:t>Bảng trọng số (σ ≈ 0,85)</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193" y="2038542"/>
          <a:ext cx="3140237" cy="1388401"/>
        </p:xfrm>
        <a:graphic>
          <a:graphicData uri="http://schemas.openxmlformats.org/drawingml/2006/table">
            <a:tbl>
              <a:tblPr/>
              <a:tblGrid>
                <a:gridCol w="1036278"/>
                <a:gridCol w="1067681"/>
                <a:gridCol w="1036278"/>
              </a:tblGrid>
              <a:tr h="462800">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1/16</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2/16</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1/16</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62800">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2/16</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4/16</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2/16</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62800">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1/16</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2/16</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1/16</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6" name="Text 3"/>
          <p:cNvSpPr/>
          <p:nvPr/>
        </p:nvSpPr>
        <p:spPr>
          <a:xfrm>
            <a:off x="4216357" y="1739711"/>
            <a:ext cx="3244210"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Trước khi lọc</a:t>
            </a:r>
            <a:endParaRPr lang="en-US" sz="14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4225764" y="2038542"/>
          <a:ext cx="3140311" cy="1388401"/>
        </p:xfrm>
        <a:graphic>
          <a:graphicData uri="http://schemas.openxmlformats.org/drawingml/2006/table">
            <a:tbl>
              <a:tblPr/>
              <a:tblGrid>
                <a:gridCol w="1036303"/>
                <a:gridCol w="1067706"/>
                <a:gridCol w="1036303"/>
              </a:tblGrid>
              <a:tr h="462800">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200</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200</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200</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62800">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200</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C2410C"/>
                          </a:solidFill>
                          <a:latin typeface="Be Vietnam Pro" pitchFamily="34" charset="0"/>
                          <a:ea typeface="Be Vietnam Pro" pitchFamily="34" charset="-122"/>
                          <a:cs typeface="Be Vietnam Pro" pitchFamily="34" charset="-120"/>
                        </a:rPr>
                        <a:t>30</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200</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62800">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200</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200</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200</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pic>
        <p:nvPicPr>
          <p:cNvPr id="8" name="Image 0" descr="arrow-right">    </p:cNvPr>
          <p:cNvPicPr>
            <a:picLocks noChangeAspect="1"/>
          </p:cNvPicPr>
          <p:nvPr/>
        </p:nvPicPr>
        <p:blipFill>
          <a:blip r:embed="rId1"/>
          <a:srcRect l="-10" r="-10" t="0" b="0"/>
          <a:stretch/>
        </p:blipFill>
        <p:spPr>
          <a:xfrm>
            <a:off x="7620001" y="2481718"/>
            <a:ext cx="355571" cy="203141"/>
          </a:xfrm>
          <a:prstGeom prst="rect">
            <a:avLst/>
          </a:prstGeom>
        </p:spPr>
      </p:pic>
      <p:sp>
        <p:nvSpPr>
          <p:cNvPr id="9" name="Text 4"/>
          <p:cNvSpPr/>
          <p:nvPr/>
        </p:nvSpPr>
        <p:spPr>
          <a:xfrm>
            <a:off x="8229498" y="1739711"/>
            <a:ext cx="3244134"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Sau khi lọc</a:t>
            </a:r>
            <a:endParaRPr lang="en-US" sz="14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8238906" y="2038542"/>
          <a:ext cx="3140237" cy="1388401"/>
        </p:xfrm>
        <a:graphic>
          <a:graphicData uri="http://schemas.openxmlformats.org/drawingml/2006/table">
            <a:tbl>
              <a:tblPr/>
              <a:tblGrid>
                <a:gridCol w="1036278"/>
                <a:gridCol w="1067681"/>
                <a:gridCol w="1036278"/>
              </a:tblGrid>
              <a:tr h="462800">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189,4</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178,8</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189,4</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62800">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178,8</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0F766E"/>
                          </a:solidFill>
                          <a:latin typeface="Be Vietnam Pro" pitchFamily="34" charset="0"/>
                          <a:ea typeface="Be Vietnam Pro" pitchFamily="34" charset="-122"/>
                          <a:cs typeface="Be Vietnam Pro" pitchFamily="34" charset="-120"/>
                        </a:rPr>
                        <a:t>157,5</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178,8</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62800">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189,4</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178,8</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2380"/>
                        </a:lnSpc>
                        <a:buNone/>
                      </a:pPr>
                      <a:r>
                        <a:rPr lang="en-US" sz="1700" dirty="0">
                          <a:solidFill>
                            <a:srgbClr val="14213D"/>
                          </a:solidFill>
                          <a:latin typeface="Be Vietnam Pro" pitchFamily="34" charset="0"/>
                          <a:ea typeface="Be Vietnam Pro" pitchFamily="34" charset="-122"/>
                          <a:cs typeface="Be Vietnam Pro" pitchFamily="34" charset="-120"/>
                        </a:rPr>
                        <a:t>189,4</a:t>
                      </a:r>
                      <a:endParaRPr lang="en-US" sz="1700" dirty="0">
                        <a:latin typeface="Be Vietnam Pro" charset="0"/>
                        <a:ea typeface="Be Vietnam Pro" charset="0"/>
                        <a:cs typeface="Be Vietnam Pro" charset="0"/>
                      </a:endParaRPr>
                    </a:p>
                  </a:txBody>
                  <a:tcPr marL="75565" marR="75565" marT="75565" marB="7556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11" name="Shape 5"/>
          <p:cNvSpPr/>
          <p:nvPr/>
        </p:nvSpPr>
        <p:spPr>
          <a:xfrm>
            <a:off x="815960" y="3582476"/>
            <a:ext cx="3414199" cy="724121"/>
          </a:xfrm>
          <a:prstGeom prst="roundRect">
            <a:avLst>
              <a:gd name="adj" fmla="val 10085"/>
            </a:avLst>
          </a:prstGeom>
          <a:solidFill>
            <a:srgbClr val="FFFFFF"/>
          </a:solidFill>
          <a:ln w="6350">
            <a:solidFill>
              <a:srgbClr val="E2E4E8"/>
            </a:solidFill>
            <a:prstDash val="solid"/>
          </a:ln>
        </p:spPr>
      </p:sp>
      <p:sp>
        <p:nvSpPr>
          <p:cNvPr id="12" name="Text 6"/>
          <p:cNvSpPr/>
          <p:nvPr/>
        </p:nvSpPr>
        <p:spPr>
          <a:xfrm>
            <a:off x="969845" y="3710930"/>
            <a:ext cx="3199622" cy="22347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Be Vietnam Pro" pitchFamily="34" charset="0"/>
                <a:ea typeface="Be Vietnam Pro" pitchFamily="34" charset="-122"/>
                <a:cs typeface="Be Vietnam Pro" pitchFamily="34" charset="-120"/>
              </a:rPr>
              <a:t>Ô giữa (nhiễu ở trọng số 4)</a:t>
            </a:r>
            <a:endParaRPr lang="en-US" sz="1300" dirty="0"/>
          </a:p>
        </p:txBody>
      </p:sp>
      <p:sp>
        <p:nvSpPr>
          <p:cNvPr id="13" name="Text 7"/>
          <p:cNvSpPr/>
          <p:nvPr/>
        </p:nvSpPr>
        <p:spPr>
          <a:xfrm>
            <a:off x="969845" y="3947071"/>
            <a:ext cx="3199622"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oto Serif" pitchFamily="18" charset="0"/>
                <a:ea typeface="Noto Serif" pitchFamily="18" charset="-122"/>
                <a:cs typeface="Noto Serif" pitchFamily="18" charset="-120"/>
              </a:rPr>
              <a:t>(200 × 12 + 30 × 4) / 16 = 157,5</a:t>
            </a:r>
            <a:endParaRPr lang="en-US" sz="1300" dirty="0"/>
          </a:p>
        </p:txBody>
      </p:sp>
      <p:sp>
        <p:nvSpPr>
          <p:cNvPr id="14" name="Shape 8"/>
          <p:cNvSpPr/>
          <p:nvPr/>
        </p:nvSpPr>
        <p:spPr>
          <a:xfrm>
            <a:off x="4388865" y="3582476"/>
            <a:ext cx="3414199" cy="724121"/>
          </a:xfrm>
          <a:prstGeom prst="roundRect">
            <a:avLst>
              <a:gd name="adj" fmla="val 10085"/>
            </a:avLst>
          </a:prstGeom>
          <a:solidFill>
            <a:srgbClr val="FFFFFF"/>
          </a:solidFill>
          <a:ln w="6350">
            <a:solidFill>
              <a:srgbClr val="E2E4E8"/>
            </a:solidFill>
            <a:prstDash val="solid"/>
          </a:ln>
        </p:spPr>
      </p:sp>
      <p:sp>
        <p:nvSpPr>
          <p:cNvPr id="15" name="Text 9"/>
          <p:cNvSpPr/>
          <p:nvPr/>
        </p:nvSpPr>
        <p:spPr>
          <a:xfrm>
            <a:off x="4542749" y="3710930"/>
            <a:ext cx="3199622" cy="22347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Be Vietnam Pro" pitchFamily="34" charset="0"/>
                <a:ea typeface="Be Vietnam Pro" pitchFamily="34" charset="-122"/>
                <a:cs typeface="Be Vietnam Pro" pitchFamily="34" charset="-120"/>
              </a:rPr>
              <a:t>Ô cạnh (nhiễu ở trọng số 2)</a:t>
            </a:r>
            <a:endParaRPr lang="en-US" sz="1300" dirty="0"/>
          </a:p>
        </p:txBody>
      </p:sp>
      <p:sp>
        <p:nvSpPr>
          <p:cNvPr id="16" name="Text 10"/>
          <p:cNvSpPr/>
          <p:nvPr/>
        </p:nvSpPr>
        <p:spPr>
          <a:xfrm>
            <a:off x="4542749" y="3947071"/>
            <a:ext cx="3199622"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oto Serif" pitchFamily="18" charset="0"/>
                <a:ea typeface="Noto Serif" pitchFamily="18" charset="-122"/>
                <a:cs typeface="Noto Serif" pitchFamily="18" charset="-120"/>
              </a:rPr>
              <a:t>(200 × 14 + 30 × 2) / 16 = 178,8</a:t>
            </a:r>
            <a:endParaRPr lang="en-US" sz="1300" dirty="0"/>
          </a:p>
        </p:txBody>
      </p:sp>
      <p:sp>
        <p:nvSpPr>
          <p:cNvPr id="17" name="Shape 11"/>
          <p:cNvSpPr/>
          <p:nvPr/>
        </p:nvSpPr>
        <p:spPr>
          <a:xfrm>
            <a:off x="7961769" y="3582476"/>
            <a:ext cx="3414199" cy="724121"/>
          </a:xfrm>
          <a:prstGeom prst="roundRect">
            <a:avLst>
              <a:gd name="adj" fmla="val 10085"/>
            </a:avLst>
          </a:prstGeom>
          <a:solidFill>
            <a:srgbClr val="FFFFFF"/>
          </a:solidFill>
          <a:ln w="6350">
            <a:solidFill>
              <a:srgbClr val="E2E4E8"/>
            </a:solidFill>
            <a:prstDash val="solid"/>
          </a:ln>
        </p:spPr>
      </p:sp>
      <p:sp>
        <p:nvSpPr>
          <p:cNvPr id="18" name="Text 12"/>
          <p:cNvSpPr/>
          <p:nvPr/>
        </p:nvSpPr>
        <p:spPr>
          <a:xfrm>
            <a:off x="8115653" y="3710930"/>
            <a:ext cx="3199622" cy="22347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Be Vietnam Pro" pitchFamily="34" charset="0"/>
                <a:ea typeface="Be Vietnam Pro" pitchFamily="34" charset="-122"/>
                <a:cs typeface="Be Vietnam Pro" pitchFamily="34" charset="-120"/>
              </a:rPr>
              <a:t>Ô góc (nhiễu ở trọng số 1)</a:t>
            </a:r>
            <a:endParaRPr lang="en-US" sz="1300" dirty="0"/>
          </a:p>
        </p:txBody>
      </p:sp>
      <p:sp>
        <p:nvSpPr>
          <p:cNvPr id="19" name="Text 13"/>
          <p:cNvSpPr/>
          <p:nvPr/>
        </p:nvSpPr>
        <p:spPr>
          <a:xfrm>
            <a:off x="8115653" y="3947071"/>
            <a:ext cx="3199622"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Noto Serif" pitchFamily="18" charset="0"/>
                <a:ea typeface="Noto Serif" pitchFamily="18" charset="-122"/>
                <a:cs typeface="Noto Serif" pitchFamily="18" charset="-120"/>
              </a:rPr>
              <a:t>(200 × 15 + 30 × 1) / 16 = 189,4</a:t>
            </a:r>
            <a:endParaRPr lang="en-US" sz="1300" dirty="0"/>
          </a:p>
        </p:txBody>
      </p:sp>
      <p:sp>
        <p:nvSpPr>
          <p:cNvPr id="20" name="Text 14"/>
          <p:cNvSpPr/>
          <p:nvPr/>
        </p:nvSpPr>
        <p:spPr>
          <a:xfrm>
            <a:off x="812785" y="4462125"/>
            <a:ext cx="10883348"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Ngưỡng 125: trước lọc, ô giữa (30) bị nhận nhầm là đồng xu; sau lọc mọi ô đều trên 125 → </a:t>
            </a:r>
            <a:r>
              <a:rPr lang="en-US" sz="1300" b="1" dirty="0">
                <a:solidFill>
                  <a:srgbClr val="0F766E"/>
                </a:solidFill>
                <a:latin typeface="Be Vietnam Pro" pitchFamily="34" charset="0"/>
                <a:ea typeface="Be Vietnam Pro" pitchFamily="34" charset="-122"/>
                <a:cs typeface="Be Vietnam Pro" pitchFamily="34" charset="-120"/>
              </a:rPr>
              <a:t>nhiễu bị xoá</a:t>
            </a:r>
            <a:r>
              <a:rPr lang="en-US" sz="1300" dirty="0">
                <a:solidFill>
                  <a:srgbClr val="4A5568"/>
                </a:solidFill>
                <a:latin typeface="Be Vietnam Pro" pitchFamily="34" charset="0"/>
                <a:ea typeface="Be Vietnam Pro" pitchFamily="34" charset="-122"/>
                <a:cs typeface="Be Vietnam Pro" pitchFamily="34" charset="-120"/>
              </a:rPr>
              <a:t>. Chương trình dùng σ = 2 (nhân 13 × 13): chấm nhiễu thành ≈ 193.</a:t>
            </a:r>
            <a:endParaRPr lang="en-US" sz="1300" dirty="0"/>
          </a:p>
        </p:txBody>
      </p:sp>
      <p:sp>
        <p:nvSpPr>
          <p:cNvPr id="21" name="Text 15"/>
          <p:cNvSpPr/>
          <p:nvPr/>
        </p:nvSpPr>
        <p:spPr>
          <a:xfrm>
            <a:off x="812785" y="6238215"/>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5" y="812784"/>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BƯỚC 2 · TIỀN XỬ LÝ — PHÂN NGƯỠNG OTSU</a:t>
            </a:r>
            <a:endParaRPr lang="en-US" sz="1200" dirty="0"/>
          </a:p>
        </p:txBody>
      </p:sp>
      <p:sp>
        <p:nvSpPr>
          <p:cNvPr id="3" name="Text 1"/>
          <p:cNvSpPr/>
          <p:nvPr>
            <p:ph type="title"/>
          </p:nvPr>
        </p:nvSpPr>
        <p:spPr>
          <a:xfrm>
            <a:off x="812785" y="1178499"/>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Tự chọn ngưỡng T chia ảnh thành đồng xu và nền</a:t>
            </a:r>
            <a:endParaRPr lang="en-US" sz="2800" dirty="0"/>
          </a:p>
        </p:txBody>
      </p:sp>
      <p:sp>
        <p:nvSpPr>
          <p:cNvPr id="4" name="Shape 2"/>
          <p:cNvSpPr/>
          <p:nvPr/>
        </p:nvSpPr>
        <p:spPr>
          <a:xfrm>
            <a:off x="812785" y="1739708"/>
            <a:ext cx="6349927" cy="2844786"/>
          </a:xfrm>
          <a:prstGeom prst="roundRect">
            <a:avLst>
              <a:gd name="adj" fmla="val 2679"/>
            </a:avLst>
          </a:prstGeom>
          <a:solidFill>
            <a:srgbClr val="FFFFFF"/>
          </a:solidFill>
          <a:ln/>
        </p:spPr>
      </p:sp>
      <p:pic>
        <p:nvPicPr>
          <p:cNvPr id="5" name="Image 0" descr="Histogram độ sáng ảnh dongxu2 với ngưỡng Otsu T = 118 và ảnh nhị phân của đồng xu">    </p:cNvPr>
          <p:cNvPicPr>
            <a:picLocks noChangeAspect="1"/>
          </p:cNvPicPr>
          <p:nvPr/>
        </p:nvPicPr>
        <p:blipFill>
          <a:blip r:embed="rId1"/>
          <a:srcRect l="0" r="0" t="-43" b="-43"/>
          <a:stretch/>
        </p:blipFill>
        <p:spPr>
          <a:xfrm>
            <a:off x="812785" y="1739708"/>
            <a:ext cx="6349927" cy="2844786"/>
          </a:xfrm>
          <a:prstGeom prst="roundRect">
            <a:avLst>
              <a:gd name="adj" fmla="val 2679"/>
            </a:avLst>
          </a:prstGeom>
        </p:spPr>
      </p:pic>
      <p:sp>
        <p:nvSpPr>
          <p:cNvPr id="6" name="Shape 3"/>
          <p:cNvSpPr/>
          <p:nvPr/>
        </p:nvSpPr>
        <p:spPr>
          <a:xfrm>
            <a:off x="7470673" y="1742883"/>
            <a:ext cx="3905295" cy="1057055"/>
          </a:xfrm>
          <a:prstGeom prst="roundRect">
            <a:avLst>
              <a:gd name="adj" fmla="val 6908"/>
            </a:avLst>
          </a:prstGeom>
          <a:solidFill>
            <a:srgbClr val="FFFFFF"/>
          </a:solidFill>
          <a:ln w="6350">
            <a:solidFill>
              <a:srgbClr val="E2E4E8"/>
            </a:solidFill>
            <a:prstDash val="solid"/>
          </a:ln>
        </p:spPr>
      </p:sp>
      <p:sp>
        <p:nvSpPr>
          <p:cNvPr id="7" name="Text 4"/>
          <p:cNvSpPr/>
          <p:nvPr/>
        </p:nvSpPr>
        <p:spPr>
          <a:xfrm>
            <a:off x="7649987" y="1896768"/>
            <a:ext cx="3653066"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σ²_B(T) = ω₀ · ω₁ · (μ₀ − μ₁)²</a:t>
            </a:r>
            <a:endParaRPr lang="en-US" sz="1600" dirty="0"/>
          </a:p>
        </p:txBody>
      </p:sp>
      <p:sp>
        <p:nvSpPr>
          <p:cNvPr id="8" name="Text 5"/>
          <p:cNvSpPr/>
          <p:nvPr/>
        </p:nvSpPr>
        <p:spPr>
          <a:xfrm>
            <a:off x="7649987" y="2219341"/>
            <a:ext cx="3653066"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Thử mọi T từ 0 đến 255, chọn T làm σ²_B lớn nhất</a:t>
            </a:r>
            <a:endParaRPr lang="en-US" sz="1200" dirty="0"/>
          </a:p>
        </p:txBody>
      </p:sp>
      <p:sp>
        <p:nvSpPr>
          <p:cNvPr id="9" name="Text 6"/>
          <p:cNvSpPr/>
          <p:nvPr/>
        </p:nvSpPr>
        <p:spPr>
          <a:xfrm>
            <a:off x="7467498" y="2930041"/>
            <a:ext cx="4028994"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ω₀, ω₁: tỉ lệ pixel nhóm tối, nhóm sáng · μ₀, μ₁: độ sáng trung bình mỗi nhóm</a:t>
            </a:r>
            <a:endParaRPr lang="en-US" sz="1200" dirty="0"/>
          </a:p>
        </p:txBody>
      </p:sp>
      <p:sp>
        <p:nvSpPr>
          <p:cNvPr id="10" name="Text 7"/>
          <p:cNvSpPr/>
          <p:nvPr/>
        </p:nvSpPr>
        <p:spPr>
          <a:xfrm>
            <a:off x="7467498" y="3483682"/>
            <a:ext cx="4028994" cy="45211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Ví dụ 10 pixel</a:t>
            </a:r>
            <a:r>
              <a:rPr lang="en-US" sz="1200" dirty="0">
                <a:solidFill>
                  <a:srgbClr val="14213D"/>
                </a:solidFill>
                <a:latin typeface="Be Vietnam Pro" pitchFamily="34" charset="0"/>
                <a:ea typeface="Be Vietnam Pro" pitchFamily="34" charset="-122"/>
                <a:cs typeface="Be Vietnam Pro" pitchFamily="34" charset="-120"/>
              </a:rPr>
              <a:t> · đồng xu: 50 ×4, 60 ×2 · giấy: 190 ×1, 200 ×3</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476905" y="4046730"/>
          <a:ext cx="3902237" cy="1317331"/>
        </p:xfrm>
        <a:graphic>
          <a:graphicData uri="http://schemas.openxmlformats.org/drawingml/2006/table">
            <a:tbl>
              <a:tblPr/>
              <a:tblGrid>
                <a:gridCol w="1170671"/>
                <a:gridCol w="1795029"/>
                <a:gridCol w="936537"/>
              </a:tblGrid>
              <a:tr h="329333">
                <a:tc>
                  <a:txBody>
                    <a:bodyPr/>
                    <a:lstStyle/>
                    <a:p>
                      <a:pPr indent="0" marL="0">
                        <a:lnSpc>
                          <a:spcPts val="1680"/>
                        </a:lnSpc>
                        <a:buNone/>
                      </a:pPr>
                      <a:r>
                        <a:rPr lang="en-US" sz="1200" b="1" dirty="0">
                          <a:solidFill>
                            <a:srgbClr val="1F2933"/>
                          </a:solidFill>
                          <a:latin typeface="Be Vietnam Pro" pitchFamily="34" charset="0"/>
                          <a:ea typeface="Be Vietnam Pro" pitchFamily="34" charset="-122"/>
                          <a:cs typeface="Be Vietnam Pro" pitchFamily="34" charset="-120"/>
                        </a:rPr>
                        <a:t>T thử</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1F2933"/>
                          </a:solidFill>
                          <a:latin typeface="Be Vietnam Pro" pitchFamily="34" charset="0"/>
                          <a:ea typeface="Be Vietnam Pro" pitchFamily="34" charset="-122"/>
                          <a:cs typeface="Be Vietnam Pro" pitchFamily="34" charset="-120"/>
                        </a:rPr>
                        <a:t>Cách chia</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1F2933"/>
                          </a:solidFill>
                          <a:latin typeface="Be Vietnam Pro" pitchFamily="34" charset="0"/>
                          <a:ea typeface="Be Vietnam Pro" pitchFamily="34" charset="-122"/>
                          <a:cs typeface="Be Vietnam Pro" pitchFamily="34" charset="-120"/>
                        </a:rPr>
                        <a:t>σ²_B</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29333">
                <a:tc>
                  <a:txBody>
                    <a:bodyPr/>
                    <a:lstStyle/>
                    <a:p>
                      <a:pPr indent="0" marL="0">
                        <a:lnSpc>
                          <a:spcPts val="1680"/>
                        </a:lnSpc>
                        <a:buNone/>
                      </a:pPr>
                      <a:r>
                        <a:rPr lang="en-US" sz="1200" dirty="0">
                          <a:solidFill>
                            <a:srgbClr val="1F2933"/>
                          </a:solidFill>
                          <a:latin typeface="Be Vietnam Pro" pitchFamily="34" charset="0"/>
                          <a:ea typeface="Be Vietnam Pro" pitchFamily="34" charset="-122"/>
                          <a:cs typeface="Be Vietnam Pro" pitchFamily="34" charset="-120"/>
                        </a:rPr>
                        <a:t>55</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F2933"/>
                          </a:solidFill>
                          <a:latin typeface="Be Vietnam Pro" pitchFamily="34" charset="0"/>
                          <a:ea typeface="Be Vietnam Pro" pitchFamily="34" charset="-122"/>
                          <a:cs typeface="Be Vietnam Pro" pitchFamily="34" charset="-120"/>
                        </a:rPr>
                        <a:t>Sai (2 xu → nền)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F2933"/>
                          </a:solidFill>
                          <a:latin typeface="Be Vietnam Pro" pitchFamily="34" charset="0"/>
                          <a:ea typeface="Be Vietnam Pro" pitchFamily="34" charset="-122"/>
                          <a:cs typeface="Be Vietnam Pro" pitchFamily="34" charset="-120"/>
                        </a:rPr>
                        <a:t>2481</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29333">
                <a:tc>
                  <a:txBody>
                    <a:bodyPr/>
                    <a:lstStyle/>
                    <a:p>
                      <a:pPr indent="0" marL="0">
                        <a:lnSpc>
                          <a:spcPts val="1680"/>
                        </a:lnSpc>
                        <a:buNone/>
                      </a:pPr>
                      <a:r>
                        <a:rPr lang="en-US" sz="1200" dirty="0">
                          <a:solidFill>
                            <a:srgbClr val="1F2933"/>
                          </a:solidFill>
                          <a:latin typeface="Be Vietnam Pro" pitchFamily="34" charset="0"/>
                          <a:ea typeface="Be Vietnam Pro" pitchFamily="34" charset="-122"/>
                          <a:cs typeface="Be Vietnam Pro" pitchFamily="34" charset="-120"/>
                        </a:rPr>
                        <a:t>100 (chọn)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ABCB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ABCB1"/>
                      </a:solidFill>
                      <a:prstDash val="solid"/>
                      <a:round/>
                      <a:headEnd type="none" w="med" len="med"/>
                      <a:tailEnd type="none" w="med" len="med"/>
                    </a:lnB>
                    <a:solidFill>
                      <a:srgbClr val="FDEBDD"/>
                    </a:solidFill>
                  </a:tcPr>
                </a:tc>
                <a:tc>
                  <a:txBody>
                    <a:bodyPr/>
                    <a:lstStyle/>
                    <a:p>
                      <a:pPr indent="0" marL="0">
                        <a:lnSpc>
                          <a:spcPts val="1680"/>
                        </a:lnSpc>
                        <a:buNone/>
                      </a:pPr>
                      <a:r>
                        <a:rPr lang="en-US" sz="1200" dirty="0">
                          <a:solidFill>
                            <a:srgbClr val="1F2933"/>
                          </a:solidFill>
                          <a:latin typeface="Be Vietnam Pro" pitchFamily="34" charset="0"/>
                          <a:ea typeface="Be Vietnam Pro" pitchFamily="34" charset="-122"/>
                          <a:cs typeface="Be Vietnam Pro" pitchFamily="34" charset="-120"/>
                        </a:rPr>
                        <a:t>Đúng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ABCB1"/>
                      </a:solidFill>
                      <a:prstDash val="solid"/>
                      <a:round/>
                      <a:headEnd type="none" w="med" len="med"/>
                      <a:tailEnd type="none" w="med" len="med"/>
                    </a:lnL>
                    <a:lnR w="12700" cap="flat" cmpd="sng" algn="ctr">
                      <a:solidFill>
                        <a:srgbClr val="CABCB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ABCB1"/>
                      </a:solidFill>
                      <a:prstDash val="solid"/>
                      <a:round/>
                      <a:headEnd type="none" w="med" len="med"/>
                      <a:tailEnd type="none" w="med" len="med"/>
                    </a:lnB>
                    <a:solidFill>
                      <a:srgbClr val="FDEBDD"/>
                    </a:solidFill>
                  </a:tcPr>
                </a:tc>
                <a:tc>
                  <a:txBody>
                    <a:bodyPr/>
                    <a:lstStyle/>
                    <a:p>
                      <a:pPr indent="0" marL="0">
                        <a:lnSpc>
                          <a:spcPts val="1680"/>
                        </a:lnSpc>
                        <a:buNone/>
                      </a:pPr>
                      <a:r>
                        <a:rPr lang="en-US" sz="1200" dirty="0">
                          <a:solidFill>
                            <a:srgbClr val="1F2933"/>
                          </a:solidFill>
                          <a:latin typeface="Be Vietnam Pro" pitchFamily="34" charset="0"/>
                          <a:ea typeface="Be Vietnam Pro" pitchFamily="34" charset="-122"/>
                          <a:cs typeface="Be Vietnam Pro" pitchFamily="34" charset="-120"/>
                        </a:rPr>
                        <a:t>4988</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ABCB1"/>
                      </a:solidFill>
                      <a:prstDash val="solid"/>
                      <a:round/>
                      <a:headEnd type="none" w="med" len="med"/>
                      <a:tailEnd type="none" w="med" len="med"/>
                    </a:lnL>
                    <a:lnR w="12700" cap="flat" cmpd="sng" algn="ctr">
                      <a:solidFill>
                        <a:srgbClr val="CABCB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ABCB1"/>
                      </a:solidFill>
                      <a:prstDash val="solid"/>
                      <a:round/>
                      <a:headEnd type="none" w="med" len="med"/>
                      <a:tailEnd type="none" w="med" len="med"/>
                    </a:lnB>
                    <a:solidFill>
                      <a:srgbClr val="FDEBDD"/>
                    </a:solidFill>
                  </a:tcPr>
                </a:tc>
              </a:tr>
              <a:tr h="329333">
                <a:tc>
                  <a:txBody>
                    <a:bodyPr/>
                    <a:lstStyle/>
                    <a:p>
                      <a:pPr indent="0" marL="0">
                        <a:lnSpc>
                          <a:spcPts val="1680"/>
                        </a:lnSpc>
                        <a:buNone/>
                      </a:pPr>
                      <a:r>
                        <a:rPr lang="en-US" sz="1200" dirty="0">
                          <a:solidFill>
                            <a:srgbClr val="1F2933"/>
                          </a:solidFill>
                          <a:latin typeface="Be Vietnam Pro" pitchFamily="34" charset="0"/>
                          <a:ea typeface="Be Vietnam Pro" pitchFamily="34" charset="-122"/>
                          <a:cs typeface="Be Vietnam Pro" pitchFamily="34" charset="-120"/>
                        </a:rPr>
                        <a:t>195</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ABCB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F2933"/>
                          </a:solidFill>
                          <a:latin typeface="Be Vietnam Pro" pitchFamily="34" charset="0"/>
                          <a:ea typeface="Be Vietnam Pro" pitchFamily="34" charset="-122"/>
                          <a:cs typeface="Be Vietnam Pro" pitchFamily="34" charset="-120"/>
                        </a:rPr>
                        <a:t>Sai (1 giấy → xu)</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ABCB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F2933"/>
                          </a:solidFill>
                          <a:latin typeface="Be Vietnam Pro" pitchFamily="34" charset="0"/>
                          <a:ea typeface="Be Vietnam Pro" pitchFamily="34" charset="-122"/>
                          <a:cs typeface="Be Vietnam Pro" pitchFamily="34" charset="-120"/>
                        </a:rPr>
                        <a:t>3395</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ABCB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12" name="Text 8"/>
          <p:cNvSpPr/>
          <p:nvPr/>
        </p:nvSpPr>
        <p:spPr>
          <a:xfrm>
            <a:off x="812785" y="6238215"/>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6 · OpenCV: cv2.threshold(…, cv2.THRESH_OTSU)</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BƯỚC 3 · TÌM ĐỒNG XU</a:t>
            </a:r>
            <a:endParaRPr lang="en-US" sz="1200" dirty="0"/>
          </a:p>
        </p:txBody>
      </p:sp>
      <p:sp>
        <p:nvSpPr>
          <p:cNvPr id="3" name="Text 1"/>
          <p:cNvSpPr/>
          <p:nvPr>
            <p:ph type="title"/>
          </p:nvPr>
        </p:nvSpPr>
        <p:spPr>
          <a:xfrm>
            <a:off x="812785" y="1178499"/>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Chỉ nhận vùng vừa tròn vừa lấp đầy đường tròn bao</a:t>
            </a:r>
            <a:endParaRPr lang="en-US" sz="2800" dirty="0"/>
          </a:p>
        </p:txBody>
      </p:sp>
      <p:sp>
        <p:nvSpPr>
          <p:cNvPr id="4" name="Shape 2"/>
          <p:cNvSpPr/>
          <p:nvPr/>
        </p:nvSpPr>
        <p:spPr>
          <a:xfrm>
            <a:off x="812785" y="1739711"/>
            <a:ext cx="10566357" cy="2539927"/>
          </a:xfrm>
          <a:prstGeom prst="roundRect">
            <a:avLst>
              <a:gd name="adj" fmla="val 3000"/>
            </a:avLst>
          </a:prstGeom>
          <a:solidFill>
            <a:srgbClr val="FFFFFF"/>
          </a:solidFill>
          <a:ln/>
        </p:spPr>
      </p:sp>
      <p:pic>
        <p:nvPicPr>
          <p:cNvPr id="5" name="Image 0" descr="Bốn hình: hình tròn được nhận; bát giác, elip dẹt và hình vuông bị loại, kèm giá trị C và E">    </p:cNvPr>
          <p:cNvPicPr>
            <a:picLocks noChangeAspect="1"/>
          </p:cNvPicPr>
          <p:nvPr/>
        </p:nvPicPr>
        <p:blipFill>
          <a:blip r:embed="rId1"/>
          <a:stretch>
            <a:fillRect/>
          </a:stretch>
        </p:blipFill>
        <p:spPr>
          <a:xfrm>
            <a:off x="2193497" y="1739711"/>
            <a:ext cx="7804934" cy="2539927"/>
          </a:xfrm>
          <a:prstGeom prst="rect">
            <a:avLst/>
          </a:prstGeom>
        </p:spPr>
      </p:pic>
      <p:sp>
        <p:nvSpPr>
          <p:cNvPr id="6" name="Shape 3"/>
          <p:cNvSpPr/>
          <p:nvPr/>
        </p:nvSpPr>
        <p:spPr>
          <a:xfrm>
            <a:off x="815960" y="4435168"/>
            <a:ext cx="3414199" cy="843698"/>
          </a:xfrm>
          <a:prstGeom prst="roundRect">
            <a:avLst>
              <a:gd name="adj" fmla="val 8655"/>
            </a:avLst>
          </a:prstGeom>
          <a:solidFill>
            <a:srgbClr val="FFFFFF"/>
          </a:solidFill>
          <a:ln w="6350">
            <a:solidFill>
              <a:srgbClr val="E2E4E8"/>
            </a:solidFill>
            <a:prstDash val="solid"/>
          </a:ln>
        </p:spPr>
      </p:sp>
      <p:sp>
        <p:nvSpPr>
          <p:cNvPr id="7" name="Text 4"/>
          <p:cNvSpPr/>
          <p:nvPr/>
        </p:nvSpPr>
        <p:spPr>
          <a:xfrm>
            <a:off x="995274" y="4589053"/>
            <a:ext cx="3147238"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C = 4π · S_v / P² ≥ 0,8</a:t>
            </a:r>
            <a:endParaRPr lang="en-US" sz="1600" dirty="0"/>
          </a:p>
        </p:txBody>
      </p:sp>
      <p:sp>
        <p:nvSpPr>
          <p:cNvPr id="8" name="Text 5"/>
          <p:cNvSpPr/>
          <p:nvPr/>
        </p:nvSpPr>
        <p:spPr>
          <a:xfrm>
            <a:off x="995274" y="4911623"/>
            <a:ext cx="314723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Độ tròn: tròn = 1, vuông ≈ 0,79</a:t>
            </a:r>
            <a:endParaRPr lang="en-US" sz="1200" dirty="0"/>
          </a:p>
        </p:txBody>
      </p:sp>
      <p:sp>
        <p:nvSpPr>
          <p:cNvPr id="9" name="Shape 6"/>
          <p:cNvSpPr/>
          <p:nvPr/>
        </p:nvSpPr>
        <p:spPr>
          <a:xfrm>
            <a:off x="4388865" y="4435168"/>
            <a:ext cx="3414199" cy="843698"/>
          </a:xfrm>
          <a:prstGeom prst="roundRect">
            <a:avLst>
              <a:gd name="adj" fmla="val 8655"/>
            </a:avLst>
          </a:prstGeom>
          <a:solidFill>
            <a:srgbClr val="FFFFFF"/>
          </a:solidFill>
          <a:ln w="6350">
            <a:solidFill>
              <a:srgbClr val="E2E4E8"/>
            </a:solidFill>
            <a:prstDash val="solid"/>
          </a:ln>
        </p:spPr>
      </p:sp>
      <p:sp>
        <p:nvSpPr>
          <p:cNvPr id="10" name="Text 7"/>
          <p:cNvSpPr/>
          <p:nvPr/>
        </p:nvSpPr>
        <p:spPr>
          <a:xfrm>
            <a:off x="4568179" y="4589053"/>
            <a:ext cx="3147238"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E = S_v / (π · r₀²) ≥ 0,93</a:t>
            </a:r>
            <a:endParaRPr lang="en-US" sz="1600" dirty="0"/>
          </a:p>
        </p:txBody>
      </p:sp>
      <p:sp>
        <p:nvSpPr>
          <p:cNvPr id="11" name="Text 8"/>
          <p:cNvSpPr/>
          <p:nvPr/>
        </p:nvSpPr>
        <p:spPr>
          <a:xfrm>
            <a:off x="4568179" y="4911623"/>
            <a:ext cx="314723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Độ lấp đầy: loại bát giác, elip</a:t>
            </a:r>
            <a:endParaRPr lang="en-US" sz="1200" dirty="0"/>
          </a:p>
        </p:txBody>
      </p:sp>
      <p:sp>
        <p:nvSpPr>
          <p:cNvPr id="12" name="Shape 9"/>
          <p:cNvSpPr/>
          <p:nvPr/>
        </p:nvSpPr>
        <p:spPr>
          <a:xfrm>
            <a:off x="7961769" y="4435168"/>
            <a:ext cx="3414199" cy="843698"/>
          </a:xfrm>
          <a:prstGeom prst="roundRect">
            <a:avLst>
              <a:gd name="adj" fmla="val 8655"/>
            </a:avLst>
          </a:prstGeom>
          <a:solidFill>
            <a:srgbClr val="FFFFFF"/>
          </a:solidFill>
          <a:ln w="6350">
            <a:solidFill>
              <a:srgbClr val="E2E4E8"/>
            </a:solidFill>
            <a:prstDash val="solid"/>
          </a:ln>
        </p:spPr>
      </p:sp>
      <p:sp>
        <p:nvSpPr>
          <p:cNvPr id="13" name="Text 10"/>
          <p:cNvSpPr/>
          <p:nvPr/>
        </p:nvSpPr>
        <p:spPr>
          <a:xfrm>
            <a:off x="8141083" y="4589053"/>
            <a:ext cx="3147238"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r₀ = d_max / 2</a:t>
            </a:r>
            <a:endParaRPr lang="en-US" sz="1600" dirty="0"/>
          </a:p>
        </p:txBody>
      </p:sp>
      <p:sp>
        <p:nvSpPr>
          <p:cNvPr id="14" name="Text 11"/>
          <p:cNvSpPr/>
          <p:nvPr/>
        </p:nvSpPr>
        <p:spPr>
          <a:xfrm>
            <a:off x="8141083" y="4911623"/>
            <a:ext cx="314723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Đường tròn nhỏ nhất bao trọn vùng</a:t>
            </a:r>
            <a:endParaRPr lang="en-US" sz="1200" dirty="0"/>
          </a:p>
        </p:txBody>
      </p:sp>
      <p:sp>
        <p:nvSpPr>
          <p:cNvPr id="15" name="Text 12"/>
          <p:cNvSpPr/>
          <p:nvPr/>
        </p:nvSpPr>
        <p:spPr>
          <a:xfrm>
            <a:off x="812785" y="6238215"/>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7 · Xu game thực tế: C = 0,880, E = 0,984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5" y="812784"/>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BƯỚC 3 · BIÊN DƯỚI PIXEL</a:t>
            </a:r>
            <a:endParaRPr lang="en-US" sz="1200" dirty="0"/>
          </a:p>
        </p:txBody>
      </p:sp>
      <p:sp>
        <p:nvSpPr>
          <p:cNvPr id="3" name="Text 1"/>
          <p:cNvSpPr/>
          <p:nvPr>
            <p:ph type="title"/>
          </p:nvPr>
        </p:nvSpPr>
        <p:spPr>
          <a:xfrm>
            <a:off x="812785" y="1178499"/>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720 tia từ tâm tìm viền chính xác đến phần lẻ pixel</a:t>
            </a:r>
            <a:endParaRPr lang="en-US" sz="2800" dirty="0"/>
          </a:p>
        </p:txBody>
      </p:sp>
      <p:sp>
        <p:nvSpPr>
          <p:cNvPr id="4" name="Shape 2"/>
          <p:cNvSpPr/>
          <p:nvPr/>
        </p:nvSpPr>
        <p:spPr>
          <a:xfrm>
            <a:off x="812785" y="1739711"/>
            <a:ext cx="6222927" cy="2762177"/>
          </a:xfrm>
          <a:prstGeom prst="roundRect">
            <a:avLst>
              <a:gd name="adj" fmla="val 2759"/>
            </a:avLst>
          </a:prstGeom>
          <a:solidFill>
            <a:srgbClr val="FFFFFF"/>
          </a:solidFill>
          <a:ln/>
        </p:spPr>
      </p:sp>
      <p:pic>
        <p:nvPicPr>
          <p:cNvPr id="5" name="Image 0" descr="Trái: đồng xu với các tia và dải tìm ±12%. Phải: độ sáng và gradient dọc một tia, đỉnh parabol tại 137,48 pixel">    </p:cNvPr>
          <p:cNvPicPr>
            <a:picLocks noChangeAspect="1"/>
          </p:cNvPicPr>
          <p:nvPr/>
        </p:nvPicPr>
        <p:blipFill>
          <a:blip r:embed="rId1"/>
          <a:srcRect l="-2" r="-2" t="0" b="0"/>
          <a:stretch/>
        </p:blipFill>
        <p:spPr>
          <a:xfrm>
            <a:off x="812785" y="1739711"/>
            <a:ext cx="6222927" cy="2762177"/>
          </a:xfrm>
          <a:prstGeom prst="roundRect">
            <a:avLst>
              <a:gd name="adj" fmla="val 2759"/>
            </a:avLst>
          </a:prstGeom>
        </p:spPr>
      </p:pic>
      <p:sp>
        <p:nvSpPr>
          <p:cNvPr id="6" name="Text 3"/>
          <p:cNvSpPr/>
          <p:nvPr/>
        </p:nvSpPr>
        <p:spPr>
          <a:xfrm>
            <a:off x="812785" y="4603459"/>
            <a:ext cx="6409615"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Sai số diện tích trên ảnh mô phỏng: −1,1% (khớp đường bao Otsu) → </a:t>
            </a:r>
            <a:r>
              <a:rPr lang="en-US" sz="1300" b="1" dirty="0">
                <a:solidFill>
                  <a:srgbClr val="0F766E"/>
                </a:solidFill>
                <a:latin typeface="Be Vietnam Pro" pitchFamily="34" charset="0"/>
                <a:ea typeface="Be Vietnam Pro" pitchFamily="34" charset="-122"/>
                <a:cs typeface="Be Vietnam Pro" pitchFamily="34" charset="-120"/>
              </a:rPr>
              <a:t>0,02%</a:t>
            </a:r>
            <a:r>
              <a:rPr lang="en-US" sz="1300" dirty="0">
                <a:solidFill>
                  <a:srgbClr val="4A5568"/>
                </a:solidFill>
                <a:latin typeface="Be Vietnam Pro" pitchFamily="34" charset="0"/>
                <a:ea typeface="Be Vietnam Pro" pitchFamily="34" charset="-122"/>
                <a:cs typeface="Be Vietnam Pro" pitchFamily="34" charset="-120"/>
              </a:rPr>
              <a:t> (biên dưới pixel).</a:t>
            </a:r>
            <a:endParaRPr lang="en-US" sz="1300" dirty="0"/>
          </a:p>
        </p:txBody>
      </p:sp>
      <p:sp>
        <p:nvSpPr>
          <p:cNvPr id="7" name="Shape 4"/>
          <p:cNvSpPr/>
          <p:nvPr/>
        </p:nvSpPr>
        <p:spPr>
          <a:xfrm>
            <a:off x="7292815" y="1742886"/>
            <a:ext cx="4083153" cy="744479"/>
          </a:xfrm>
          <a:prstGeom prst="roundRect">
            <a:avLst>
              <a:gd name="adj" fmla="val 9809"/>
            </a:avLst>
          </a:prstGeom>
          <a:solidFill>
            <a:srgbClr val="FFFFFF"/>
          </a:solidFill>
          <a:ln w="6350">
            <a:solidFill>
              <a:srgbClr val="E2E4E8"/>
            </a:solidFill>
            <a:prstDash val="solid"/>
          </a:ln>
        </p:spPr>
      </p:sp>
      <p:sp>
        <p:nvSpPr>
          <p:cNvPr id="8" name="Text 5"/>
          <p:cNvSpPr/>
          <p:nvPr/>
        </p:nvSpPr>
        <p:spPr>
          <a:xfrm>
            <a:off x="7446699" y="1871340"/>
            <a:ext cx="3888646"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Noto Serif" pitchFamily="18" charset="0"/>
                <a:ea typeface="Noto Serif" pitchFamily="18" charset="-122"/>
                <a:cs typeface="Noto Serif" pitchFamily="18" charset="-120"/>
              </a:rPr>
              <a:t>x = x_c + ρ·cosθ, y = y_c + ρ·sinθ</a:t>
            </a:r>
            <a:endParaRPr lang="en-US" sz="1400" dirty="0"/>
          </a:p>
        </p:txBody>
      </p:sp>
      <p:sp>
        <p:nvSpPr>
          <p:cNvPr id="9" name="Text 6"/>
          <p:cNvSpPr/>
          <p:nvPr/>
        </p:nvSpPr>
        <p:spPr>
          <a:xfrm>
            <a:off x="7446699" y="2145550"/>
            <a:ext cx="388864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① Kẻ tia, ρ trong 0,88r₀–1,12r₀</a:t>
            </a:r>
            <a:endParaRPr lang="en-US" sz="1200" dirty="0"/>
          </a:p>
        </p:txBody>
      </p:sp>
      <p:sp>
        <p:nvSpPr>
          <p:cNvPr id="10" name="Shape 7"/>
          <p:cNvSpPr/>
          <p:nvPr/>
        </p:nvSpPr>
        <p:spPr>
          <a:xfrm>
            <a:off x="7292815" y="2595283"/>
            <a:ext cx="4083153" cy="744479"/>
          </a:xfrm>
          <a:prstGeom prst="roundRect">
            <a:avLst>
              <a:gd name="adj" fmla="val 9809"/>
            </a:avLst>
          </a:prstGeom>
          <a:solidFill>
            <a:srgbClr val="FFFFFF"/>
          </a:solidFill>
          <a:ln w="6350">
            <a:solidFill>
              <a:srgbClr val="E2E4E8"/>
            </a:solidFill>
            <a:prstDash val="solid"/>
          </a:ln>
        </p:spPr>
      </p:sp>
      <p:sp>
        <p:nvSpPr>
          <p:cNvPr id="11" name="Text 8"/>
          <p:cNvSpPr/>
          <p:nvPr/>
        </p:nvSpPr>
        <p:spPr>
          <a:xfrm>
            <a:off x="7446699" y="2723738"/>
            <a:ext cx="3888646"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Noto Serif" pitchFamily="18" charset="0"/>
                <a:ea typeface="Noto Serif" pitchFamily="18" charset="-122"/>
                <a:cs typeface="Noto Serif" pitchFamily="18" charset="-120"/>
              </a:rPr>
              <a:t>I = Σ trọng số × 4 pixel quanh</a:t>
            </a:r>
            <a:endParaRPr lang="en-US" sz="1400" dirty="0"/>
          </a:p>
        </p:txBody>
      </p:sp>
      <p:sp>
        <p:nvSpPr>
          <p:cNvPr id="12" name="Text 9"/>
          <p:cNvSpPr/>
          <p:nvPr/>
        </p:nvSpPr>
        <p:spPr>
          <a:xfrm>
            <a:off x="7446699" y="2997950"/>
            <a:ext cx="388864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② Nội suy song tuyến, bước 0,25 px</a:t>
            </a:r>
            <a:endParaRPr lang="en-US" sz="1200" dirty="0"/>
          </a:p>
        </p:txBody>
      </p:sp>
      <p:sp>
        <p:nvSpPr>
          <p:cNvPr id="13" name="Shape 10"/>
          <p:cNvSpPr/>
          <p:nvPr/>
        </p:nvSpPr>
        <p:spPr>
          <a:xfrm>
            <a:off x="7292815" y="3447684"/>
            <a:ext cx="4083153" cy="744479"/>
          </a:xfrm>
          <a:prstGeom prst="roundRect">
            <a:avLst>
              <a:gd name="adj" fmla="val 9809"/>
            </a:avLst>
          </a:prstGeom>
          <a:solidFill>
            <a:srgbClr val="FFFFFF"/>
          </a:solidFill>
          <a:ln w="6350">
            <a:solidFill>
              <a:srgbClr val="E2E4E8"/>
            </a:solidFill>
            <a:prstDash val="solid"/>
          </a:ln>
        </p:spPr>
      </p:sp>
      <p:sp>
        <p:nvSpPr>
          <p:cNvPr id="14" name="Text 11"/>
          <p:cNvSpPr/>
          <p:nvPr/>
        </p:nvSpPr>
        <p:spPr>
          <a:xfrm>
            <a:off x="7446699" y="3576138"/>
            <a:ext cx="3888646"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Noto Serif" pitchFamily="18" charset="0"/>
                <a:ea typeface="Noto Serif" pitchFamily="18" charset="-122"/>
                <a:cs typeface="Noto Serif" pitchFamily="18" charset="-120"/>
              </a:rPr>
              <a:t>g(ρ) = [I(ρ+Δ) − I(ρ−Δ)] / 2Δ</a:t>
            </a:r>
            <a:endParaRPr lang="en-US" sz="1400" dirty="0"/>
          </a:p>
        </p:txBody>
      </p:sp>
      <p:sp>
        <p:nvSpPr>
          <p:cNvPr id="15" name="Text 12"/>
          <p:cNvSpPr/>
          <p:nvPr/>
        </p:nvSpPr>
        <p:spPr>
          <a:xfrm>
            <a:off x="7446699" y="3850351"/>
            <a:ext cx="388864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③ Gradient lớn nhất tại ρₘ</a:t>
            </a:r>
            <a:endParaRPr lang="en-US" sz="1200" dirty="0"/>
          </a:p>
        </p:txBody>
      </p:sp>
      <p:sp>
        <p:nvSpPr>
          <p:cNvPr id="16" name="Shape 13"/>
          <p:cNvSpPr/>
          <p:nvPr/>
        </p:nvSpPr>
        <p:spPr>
          <a:xfrm>
            <a:off x="7292815" y="4300085"/>
            <a:ext cx="4083153" cy="957836"/>
          </a:xfrm>
          <a:prstGeom prst="roundRect">
            <a:avLst>
              <a:gd name="adj" fmla="val 7624"/>
            </a:avLst>
          </a:prstGeom>
          <a:solidFill>
            <a:srgbClr val="FFFFFF"/>
          </a:solidFill>
          <a:ln w="6350">
            <a:solidFill>
              <a:srgbClr val="E2E4E8"/>
            </a:solidFill>
            <a:prstDash val="solid"/>
          </a:ln>
        </p:spPr>
      </p:sp>
      <p:sp>
        <p:nvSpPr>
          <p:cNvPr id="17" name="Text 14"/>
          <p:cNvSpPr/>
          <p:nvPr/>
        </p:nvSpPr>
        <p:spPr>
          <a:xfrm>
            <a:off x="7446699" y="4428536"/>
            <a:ext cx="3888646"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Noto Serif" pitchFamily="18" charset="0"/>
                <a:ea typeface="Noto Serif" pitchFamily="18" charset="-122"/>
                <a:cs typeface="Noto Serif" pitchFamily="18" charset="-120"/>
              </a:rPr>
              <a:t>ρ* = ρₘ + δ·Δ</a:t>
            </a:r>
            <a:endParaRPr lang="en-US" sz="1400" dirty="0"/>
          </a:p>
        </p:txBody>
      </p:sp>
      <p:sp>
        <p:nvSpPr>
          <p:cNvPr id="18" name="Text 15"/>
          <p:cNvSpPr/>
          <p:nvPr/>
        </p:nvSpPr>
        <p:spPr>
          <a:xfrm>
            <a:off x="7446699" y="4702752"/>
            <a:ext cx="3888646"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④ Đỉnh parabol qua 3 điểm; ví dụ 138 − 0,39 = 137,61</a:t>
            </a:r>
            <a:endParaRPr lang="en-US" sz="1200" dirty="0"/>
          </a:p>
        </p:txBody>
      </p:sp>
      <p:sp>
        <p:nvSpPr>
          <p:cNvPr id="19" name="Text 16"/>
          <p:cNvSpPr/>
          <p:nvPr/>
        </p:nvSpPr>
        <p:spPr>
          <a:xfrm>
            <a:off x="812785" y="6238211"/>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4"/>
        </a:solidFill>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BƯỚC 4 · CÁCH A — ĐẾM PIXEL</a:t>
            </a:r>
            <a:endParaRPr lang="en-US" sz="1200" dirty="0"/>
          </a:p>
        </p:txBody>
      </p:sp>
      <p:sp>
        <p:nvSpPr>
          <p:cNvPr id="3" name="Text 1"/>
          <p:cNvSpPr/>
          <p:nvPr>
            <p:ph type="title"/>
          </p:nvPr>
        </p:nvSpPr>
        <p:spPr>
          <a:xfrm>
            <a:off x="812785" y="1178502"/>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Tô kín đồng xu, đếm pixel, nhân diện tích một pixel</a:t>
            </a:r>
            <a:endParaRPr lang="en-US" sz="2800" dirty="0"/>
          </a:p>
        </p:txBody>
      </p:sp>
      <p:sp>
        <p:nvSpPr>
          <p:cNvPr id="4" name="Shape 2"/>
          <p:cNvSpPr/>
          <p:nvPr/>
        </p:nvSpPr>
        <p:spPr>
          <a:xfrm>
            <a:off x="812785" y="1739714"/>
            <a:ext cx="3555927" cy="3555927"/>
          </a:xfrm>
          <a:prstGeom prst="roundRect">
            <a:avLst>
              <a:gd name="adj" fmla="val 2143"/>
            </a:avLst>
          </a:prstGeom>
          <a:solidFill>
            <a:srgbClr val="14213D"/>
          </a:solidFill>
          <a:ln/>
        </p:spPr>
      </p:sp>
      <p:pic>
        <p:nvPicPr>
          <p:cNvPr id="5" name="Image 0" descr="Mặt nạ đồng xu màu trắng trên nền đen, vòng tròn đứt nét 1,06r bao quanh">    </p:cNvPr>
          <p:cNvPicPr>
            <a:picLocks noChangeAspect="1"/>
          </p:cNvPicPr>
          <p:nvPr/>
        </p:nvPicPr>
        <p:blipFill>
          <a:blip r:embed="rId1"/>
          <a:srcRect l="0" r="0" t="0" b="0"/>
          <a:stretch/>
        </p:blipFill>
        <p:spPr>
          <a:xfrm>
            <a:off x="812785" y="1739714"/>
            <a:ext cx="3555927" cy="3555927"/>
          </a:xfrm>
          <a:prstGeom prst="roundRect">
            <a:avLst>
              <a:gd name="adj" fmla="val 2143"/>
            </a:avLst>
          </a:prstGeom>
        </p:spPr>
      </p:pic>
      <p:sp>
        <p:nvSpPr>
          <p:cNvPr id="6" name="Shape 3"/>
          <p:cNvSpPr/>
          <p:nvPr/>
        </p:nvSpPr>
        <p:spPr>
          <a:xfrm>
            <a:off x="4727458" y="1742889"/>
            <a:ext cx="6648510" cy="843698"/>
          </a:xfrm>
          <a:prstGeom prst="roundRect">
            <a:avLst>
              <a:gd name="adj" fmla="val 8655"/>
            </a:avLst>
          </a:prstGeom>
          <a:solidFill>
            <a:srgbClr val="FFFFFF"/>
          </a:solidFill>
          <a:ln w="6350">
            <a:solidFill>
              <a:srgbClr val="DCE1E7"/>
            </a:solidFill>
            <a:prstDash val="solid"/>
          </a:ln>
        </p:spPr>
      </p:sp>
      <p:sp>
        <p:nvSpPr>
          <p:cNvPr id="7" name="Text 4"/>
          <p:cNvSpPr/>
          <p:nvPr/>
        </p:nvSpPr>
        <p:spPr>
          <a:xfrm>
            <a:off x="4906772" y="1896771"/>
            <a:ext cx="6478578"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T_biên = trung vị { I_mịn tại 720 điểm biên }</a:t>
            </a:r>
            <a:endParaRPr lang="en-US" sz="1600" dirty="0"/>
          </a:p>
        </p:txBody>
      </p:sp>
      <p:sp>
        <p:nvSpPr>
          <p:cNvPr id="8" name="Text 5"/>
          <p:cNvSpPr/>
          <p:nvPr/>
        </p:nvSpPr>
        <p:spPr>
          <a:xfrm>
            <a:off x="4906772" y="2219344"/>
            <a:ext cx="647857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Ngưỡng đặt đúng tại viền thật, không dùng ngưỡng Otsu cả ảnh</a:t>
            </a:r>
            <a:endParaRPr lang="en-US" sz="1200" dirty="0"/>
          </a:p>
        </p:txBody>
      </p:sp>
      <p:sp>
        <p:nvSpPr>
          <p:cNvPr id="9" name="Shape 6"/>
          <p:cNvSpPr/>
          <p:nvPr/>
        </p:nvSpPr>
        <p:spPr>
          <a:xfrm>
            <a:off x="4727458" y="2719859"/>
            <a:ext cx="6648510" cy="843698"/>
          </a:xfrm>
          <a:prstGeom prst="roundRect">
            <a:avLst>
              <a:gd name="adj" fmla="val 8655"/>
            </a:avLst>
          </a:prstGeom>
          <a:solidFill>
            <a:srgbClr val="FFFFFF"/>
          </a:solidFill>
          <a:ln w="6350">
            <a:solidFill>
              <a:srgbClr val="DCE1E7"/>
            </a:solidFill>
            <a:prstDash val="solid"/>
          </a:ln>
        </p:spPr>
      </p:sp>
      <p:sp>
        <p:nvSpPr>
          <p:cNvPr id="10" name="Text 7"/>
          <p:cNvSpPr/>
          <p:nvPr/>
        </p:nvSpPr>
        <p:spPr>
          <a:xfrm>
            <a:off x="4906772" y="2873747"/>
            <a:ext cx="6478578"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(x − x_c)² + (y − y_c)² ≤ (1,06·r)²</a:t>
            </a:r>
            <a:endParaRPr lang="en-US" sz="1600" dirty="0"/>
          </a:p>
        </p:txBody>
      </p:sp>
      <p:sp>
        <p:nvSpPr>
          <p:cNvPr id="11" name="Text 8"/>
          <p:cNvSpPr/>
          <p:nvPr/>
        </p:nvSpPr>
        <p:spPr>
          <a:xfrm>
            <a:off x="4906772" y="3196313"/>
            <a:ext cx="647857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Hàng rào xoá vật ở xa; rộng hơn đồng xu 6% (≈ 17 px với xu game) để không cắt viền</a:t>
            </a:r>
            <a:endParaRPr lang="en-US" sz="1200" dirty="0"/>
          </a:p>
        </p:txBody>
      </p:sp>
      <p:sp>
        <p:nvSpPr>
          <p:cNvPr id="12" name="Shape 9"/>
          <p:cNvSpPr/>
          <p:nvPr/>
        </p:nvSpPr>
        <p:spPr>
          <a:xfrm>
            <a:off x="4727458" y="3696835"/>
            <a:ext cx="6648510" cy="843698"/>
          </a:xfrm>
          <a:prstGeom prst="roundRect">
            <a:avLst>
              <a:gd name="adj" fmla="val 8655"/>
            </a:avLst>
          </a:prstGeom>
          <a:solidFill>
            <a:srgbClr val="FFFFFF"/>
          </a:solidFill>
          <a:ln w="6350">
            <a:solidFill>
              <a:srgbClr val="DCE1E7"/>
            </a:solidFill>
            <a:prstDash val="solid"/>
          </a:ln>
        </p:spPr>
      </p:sp>
      <p:sp>
        <p:nvSpPr>
          <p:cNvPr id="13" name="Text 10"/>
          <p:cNvSpPr/>
          <p:nvPr/>
        </p:nvSpPr>
        <p:spPr>
          <a:xfrm>
            <a:off x="4906772" y="3850717"/>
            <a:ext cx="6478578"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S = N · k², d_tđ = 2·√(N/π) · k</a:t>
            </a:r>
            <a:endParaRPr lang="en-US" sz="1600" dirty="0"/>
          </a:p>
        </p:txBody>
      </p:sp>
      <p:sp>
        <p:nvSpPr>
          <p:cNvPr id="14" name="Text 11"/>
          <p:cNvSpPr/>
          <p:nvPr/>
        </p:nvSpPr>
        <p:spPr>
          <a:xfrm>
            <a:off x="4906772" y="4173289"/>
            <a:ext cx="647857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Xu game: N = 239.982 px → S = 505,0 mm², d_tđ = 25,36 mm</a:t>
            </a:r>
            <a:endParaRPr lang="en-US" sz="1200" dirty="0"/>
          </a:p>
        </p:txBody>
      </p:sp>
      <p:sp>
        <p:nvSpPr>
          <p:cNvPr id="15" name="Text 12"/>
          <p:cNvSpPr/>
          <p:nvPr/>
        </p:nvSpPr>
        <p:spPr>
          <a:xfrm>
            <a:off x="4724283" y="4670636"/>
            <a:ext cx="6854505" cy="25646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3412"/>
                </a:solidFill>
                <a:latin typeface="Be Vietnam Pro" pitchFamily="34" charset="0"/>
                <a:ea typeface="Be Vietnam Pro" pitchFamily="34" charset="-122"/>
                <a:cs typeface="Be Vietnam Pro" pitchFamily="34" charset="-120"/>
              </a:rPr>
              <a:t>Điểm yếu:</a:t>
            </a:r>
            <a:r>
              <a:rPr lang="en-US" sz="1300" dirty="0">
                <a:solidFill>
                  <a:srgbClr val="9A3412"/>
                </a:solidFill>
                <a:latin typeface="Be Vietnam Pro" pitchFamily="34" charset="0"/>
                <a:ea typeface="Be Vietnam Pro" pitchFamily="34" charset="-122"/>
                <a:cs typeface="Be Vietnam Pro" pitchFamily="34" charset="-120"/>
              </a:rPr>
              <a:t> đếm lẫn bóng đổ và thành bên đồng xu khi chụp nghiêng.</a:t>
            </a:r>
            <a:endParaRPr lang="en-US" sz="1300" dirty="0"/>
          </a:p>
        </p:txBody>
      </p:sp>
      <p:sp>
        <p:nvSpPr>
          <p:cNvPr id="16" name="Text 13"/>
          <p:cNvSpPr/>
          <p:nvPr/>
        </p:nvSpPr>
        <p:spPr>
          <a:xfrm>
            <a:off x="812785" y="623821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4"/>
        </a:solidFill>
      </p:bgPr>
    </p:bg>
    <p:spTree>
      <p:nvGrpSpPr>
        <p:cNvPr id="1" name=""/>
        <p:cNvGrpSpPr/>
        <p:nvPr/>
      </p:nvGrpSpPr>
      <p:grpSpPr>
        <a:xfrm>
          <a:off x="0" y="0"/>
          <a:ext cx="0" cy="0"/>
          <a:chOff x="0" y="0"/>
          <a:chExt cx="0" cy="0"/>
        </a:xfrm>
      </p:grpSpPr>
      <p:sp>
        <p:nvSpPr>
          <p:cNvPr id="2" name="Text 0"/>
          <p:cNvSpPr/>
          <p:nvPr/>
        </p:nvSpPr>
        <p:spPr>
          <a:xfrm>
            <a:off x="812785" y="812781"/>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BƯỚC 4 · CÁCH B — QUA ĐƯỜNG KÍNH</a:t>
            </a:r>
            <a:endParaRPr lang="en-US" sz="1200" dirty="0"/>
          </a:p>
        </p:txBody>
      </p:sp>
      <p:sp>
        <p:nvSpPr>
          <p:cNvPr id="3" name="Text 1"/>
          <p:cNvSpPr/>
          <p:nvPr>
            <p:ph type="title"/>
          </p:nvPr>
        </p:nvSpPr>
        <p:spPr>
          <a:xfrm>
            <a:off x="812785" y="1178496"/>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Khớp đường tròn qua 720 điểm biên, bỏ điểm lệch</a:t>
            </a:r>
            <a:endParaRPr lang="en-US" sz="2800" dirty="0"/>
          </a:p>
        </p:txBody>
      </p:sp>
      <p:sp>
        <p:nvSpPr>
          <p:cNvPr id="4" name="Shape 2"/>
          <p:cNvSpPr/>
          <p:nvPr/>
        </p:nvSpPr>
        <p:spPr>
          <a:xfrm>
            <a:off x="812785" y="1739708"/>
            <a:ext cx="3555927" cy="3555927"/>
          </a:xfrm>
          <a:prstGeom prst="roundRect">
            <a:avLst>
              <a:gd name="adj" fmla="val 2143"/>
            </a:avLst>
          </a:prstGeom>
          <a:solidFill>
            <a:srgbClr val="FFFFFF"/>
          </a:solidFill>
          <a:ln/>
        </p:spPr>
      </p:sp>
      <p:pic>
        <p:nvPicPr>
          <p:cNvPr id="5" name="Image 0" descr="Đồng xu với điểm biên màu xanh, điểm bị loại màu tím ở mép dưới, đường tròn khớp màu cam và tâm">    </p:cNvPr>
          <p:cNvPicPr>
            <a:picLocks noChangeAspect="1"/>
          </p:cNvPicPr>
          <p:nvPr/>
        </p:nvPicPr>
        <p:blipFill>
          <a:blip r:embed="rId1"/>
          <a:srcRect l="0" r="0" t="0" b="0"/>
          <a:stretch/>
        </p:blipFill>
        <p:spPr>
          <a:xfrm>
            <a:off x="812785" y="1739708"/>
            <a:ext cx="3555927" cy="3555927"/>
          </a:xfrm>
          <a:prstGeom prst="roundRect">
            <a:avLst>
              <a:gd name="adj" fmla="val 2143"/>
            </a:avLst>
          </a:prstGeom>
        </p:spPr>
      </p:pic>
      <p:sp>
        <p:nvSpPr>
          <p:cNvPr id="6" name="Text 3"/>
          <p:cNvSpPr/>
          <p:nvPr/>
        </p:nvSpPr>
        <p:spPr>
          <a:xfrm>
            <a:off x="812785" y="5371778"/>
            <a:ext cx="3662605"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Xanh: điểm giữ lại · Tím: 28 điểm bị loại (thành bên)</a:t>
            </a:r>
            <a:endParaRPr lang="en-US" sz="1200" dirty="0"/>
          </a:p>
        </p:txBody>
      </p:sp>
      <p:sp>
        <p:nvSpPr>
          <p:cNvPr id="7" name="Shape 4"/>
          <p:cNvSpPr/>
          <p:nvPr/>
        </p:nvSpPr>
        <p:spPr>
          <a:xfrm>
            <a:off x="4727458" y="1742883"/>
            <a:ext cx="6648510" cy="1051836"/>
          </a:xfrm>
          <a:prstGeom prst="roundRect">
            <a:avLst>
              <a:gd name="adj" fmla="val 6943"/>
            </a:avLst>
          </a:prstGeom>
          <a:solidFill>
            <a:srgbClr val="FFFFFF"/>
          </a:solidFill>
          <a:ln w="6350">
            <a:solidFill>
              <a:srgbClr val="DCE1E7"/>
            </a:solidFill>
            <a:prstDash val="solid"/>
          </a:ln>
        </p:spPr>
      </p:sp>
      <p:sp>
        <p:nvSpPr>
          <p:cNvPr id="8" name="Text 5"/>
          <p:cNvSpPr/>
          <p:nvPr/>
        </p:nvSpPr>
        <p:spPr>
          <a:xfrm>
            <a:off x="4906772" y="1884052"/>
            <a:ext cx="6478578"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Be Vietnam Pro" pitchFamily="34" charset="0"/>
                <a:ea typeface="Be Vietnam Pro" pitchFamily="34" charset="-122"/>
                <a:cs typeface="Be Vietnam Pro" pitchFamily="34" charset="-120"/>
              </a:rPr>
              <a:t>① Khớp đại số Kasa — giá trị ban đầu</a:t>
            </a:r>
            <a:endParaRPr lang="en-US" sz="1200" dirty="0"/>
          </a:p>
        </p:txBody>
      </p:sp>
      <p:sp>
        <p:nvSpPr>
          <p:cNvPr id="9" name="Text 6"/>
          <p:cNvSpPr/>
          <p:nvPr/>
        </p:nvSpPr>
        <p:spPr>
          <a:xfrm>
            <a:off x="4906772" y="2135479"/>
            <a:ext cx="6478578" cy="292041"/>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Noto Serif" pitchFamily="18" charset="0"/>
                <a:ea typeface="Noto Serif" pitchFamily="18" charset="-122"/>
                <a:cs typeface="Noto Serif" pitchFamily="18" charset="-120"/>
              </a:rPr>
              <a:t>D·xᵢ + E·yᵢ + F = −(xᵢ² + yᵢ²)</a:t>
            </a:r>
            <a:endParaRPr lang="en-US" sz="1500" dirty="0"/>
          </a:p>
        </p:txBody>
      </p:sp>
      <p:sp>
        <p:nvSpPr>
          <p:cNvPr id="10" name="Text 7"/>
          <p:cNvSpPr/>
          <p:nvPr/>
        </p:nvSpPr>
        <p:spPr>
          <a:xfrm>
            <a:off x="4906772" y="2440192"/>
            <a:ext cx="647857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Tuyến tính, giải ngay bằng bình phương tối thiểu → a = −D/2, b = −E/2</a:t>
            </a:r>
            <a:endParaRPr lang="en-US" sz="1200" dirty="0"/>
          </a:p>
        </p:txBody>
      </p:sp>
      <p:sp>
        <p:nvSpPr>
          <p:cNvPr id="11" name="Shape 8"/>
          <p:cNvSpPr/>
          <p:nvPr/>
        </p:nvSpPr>
        <p:spPr>
          <a:xfrm>
            <a:off x="4727458" y="2915351"/>
            <a:ext cx="6648510" cy="1051836"/>
          </a:xfrm>
          <a:prstGeom prst="roundRect">
            <a:avLst>
              <a:gd name="adj" fmla="val 6943"/>
            </a:avLst>
          </a:prstGeom>
          <a:solidFill>
            <a:srgbClr val="FFFFFF"/>
          </a:solidFill>
          <a:ln w="6350">
            <a:solidFill>
              <a:srgbClr val="DCE1E7"/>
            </a:solidFill>
            <a:prstDash val="solid"/>
          </a:ln>
        </p:spPr>
      </p:sp>
      <p:sp>
        <p:nvSpPr>
          <p:cNvPr id="12" name="Text 9"/>
          <p:cNvSpPr/>
          <p:nvPr/>
        </p:nvSpPr>
        <p:spPr>
          <a:xfrm>
            <a:off x="4906772" y="3056520"/>
            <a:ext cx="6478578"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Be Vietnam Pro" pitchFamily="34" charset="0"/>
                <a:ea typeface="Be Vietnam Pro" pitchFamily="34" charset="-122"/>
                <a:cs typeface="Be Vietnam Pro" pitchFamily="34" charset="-120"/>
              </a:rPr>
              <a:t>② Khớp hình học — chính xác</a:t>
            </a:r>
            <a:endParaRPr lang="en-US" sz="1200" dirty="0"/>
          </a:p>
        </p:txBody>
      </p:sp>
      <p:sp>
        <p:nvSpPr>
          <p:cNvPr id="13" name="Text 10"/>
          <p:cNvSpPr/>
          <p:nvPr/>
        </p:nvSpPr>
        <p:spPr>
          <a:xfrm>
            <a:off x="4906772" y="3307953"/>
            <a:ext cx="6478578" cy="292041"/>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Noto Serif" pitchFamily="18" charset="0"/>
                <a:ea typeface="Noto Serif" pitchFamily="18" charset="-122"/>
                <a:cs typeface="Noto Serif" pitchFamily="18" charset="-120"/>
              </a:rPr>
              <a:t>min Σ (dᵢ − r)², dᵢ = √((xᵢ − a)² + (yᵢ − b)²)</a:t>
            </a:r>
            <a:endParaRPr lang="en-US" sz="1500" dirty="0"/>
          </a:p>
        </p:txBody>
      </p:sp>
      <p:sp>
        <p:nvSpPr>
          <p:cNvPr id="14" name="Text 11"/>
          <p:cNvSpPr/>
          <p:nvPr/>
        </p:nvSpPr>
        <p:spPr>
          <a:xfrm>
            <a:off x="4906772" y="3612660"/>
            <a:ext cx="647857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Khoảng cách thật từ điểm đến đường tròn nhỏ nhất</a:t>
            </a:r>
            <a:endParaRPr lang="en-US" sz="1200" dirty="0"/>
          </a:p>
        </p:txBody>
      </p:sp>
      <p:sp>
        <p:nvSpPr>
          <p:cNvPr id="15" name="Shape 12"/>
          <p:cNvSpPr/>
          <p:nvPr/>
        </p:nvSpPr>
        <p:spPr>
          <a:xfrm>
            <a:off x="4727458" y="4087825"/>
            <a:ext cx="6648510" cy="800409"/>
          </a:xfrm>
          <a:prstGeom prst="roundRect">
            <a:avLst>
              <a:gd name="adj" fmla="val 9123"/>
            </a:avLst>
          </a:prstGeom>
          <a:solidFill>
            <a:srgbClr val="FFFFFF"/>
          </a:solidFill>
          <a:ln w="6350">
            <a:solidFill>
              <a:srgbClr val="DCE1E7"/>
            </a:solidFill>
            <a:prstDash val="solid"/>
          </a:ln>
        </p:spPr>
      </p:sp>
      <p:sp>
        <p:nvSpPr>
          <p:cNvPr id="16" name="Text 13"/>
          <p:cNvSpPr/>
          <p:nvPr/>
        </p:nvSpPr>
        <p:spPr>
          <a:xfrm>
            <a:off x="4906772" y="4228995"/>
            <a:ext cx="6478578"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Be Vietnam Pro" pitchFamily="34" charset="0"/>
                <a:ea typeface="Be Vietnam Pro" pitchFamily="34" charset="-122"/>
                <a:cs typeface="Be Vietnam Pro" pitchFamily="34" charset="-120"/>
              </a:rPr>
              <a:t>③ Loại điểm lệch 3σ — lặp tối đa 3 lần</a:t>
            </a:r>
            <a:endParaRPr lang="en-US" sz="1200" dirty="0"/>
          </a:p>
        </p:txBody>
      </p:sp>
      <p:sp>
        <p:nvSpPr>
          <p:cNvPr id="17" name="Text 14"/>
          <p:cNvSpPr/>
          <p:nvPr/>
        </p:nvSpPr>
        <p:spPr>
          <a:xfrm>
            <a:off x="4906772" y="4480421"/>
            <a:ext cx="6478578" cy="292041"/>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Noto Serif" pitchFamily="18" charset="0"/>
                <a:ea typeface="Noto Serif" pitchFamily="18" charset="-122"/>
                <a:cs typeface="Noto Serif" pitchFamily="18" charset="-120"/>
              </a:rPr>
              <a:t>|eᵢ| &gt; 3σ, σ = √(Σ eᵢ² / n)</a:t>
            </a:r>
            <a:endParaRPr lang="en-US" sz="1500" dirty="0"/>
          </a:p>
        </p:txBody>
      </p:sp>
      <p:sp>
        <p:nvSpPr>
          <p:cNvPr id="18" name="Text 15"/>
          <p:cNvSpPr/>
          <p:nvPr/>
        </p:nvSpPr>
        <p:spPr>
          <a:xfrm>
            <a:off x="4724283" y="5005691"/>
            <a:ext cx="6854505" cy="327686"/>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13D"/>
                </a:solidFill>
                <a:latin typeface="Noto Serif" pitchFamily="18" charset="0"/>
                <a:ea typeface="Noto Serif" pitchFamily="18" charset="-122"/>
                <a:cs typeface="Noto Serif" pitchFamily="18" charset="-120"/>
              </a:rPr>
              <a:t>S = π · d² / 4 → </a:t>
            </a:r>
            <a:r>
              <a:rPr lang="en-US" sz="1700" dirty="0">
                <a:solidFill>
                  <a:srgbClr val="C2410C"/>
                </a:solidFill>
                <a:latin typeface="Noto Serif" pitchFamily="18" charset="0"/>
                <a:ea typeface="Noto Serif" pitchFamily="18" charset="-122"/>
                <a:cs typeface="Noto Serif" pitchFamily="18" charset="-120"/>
              </a:rPr>
              <a:t>506,6 mm²</a:t>
            </a:r>
            <a:r>
              <a:rPr lang="en-US" sz="1700" dirty="0">
                <a:solidFill>
                  <a:srgbClr val="14213D"/>
                </a:solidFill>
                <a:latin typeface="Noto Serif" pitchFamily="18" charset="0"/>
                <a:ea typeface="Noto Serif" pitchFamily="18" charset="-122"/>
                <a:cs typeface="Noto Serif" pitchFamily="18" charset="-120"/>
              </a:rPr>
              <a:t> (d = 25,40 mm)</a:t>
            </a:r>
            <a:endParaRPr lang="en-US" sz="1700" dirty="0"/>
          </a:p>
        </p:txBody>
      </p:sp>
      <p:sp>
        <p:nvSpPr>
          <p:cNvPr id="19" name="Text 16"/>
          <p:cNvSpPr/>
          <p:nvPr/>
        </p:nvSpPr>
        <p:spPr>
          <a:xfrm>
            <a:off x="812785" y="6238211"/>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5" y="812788"/>
            <a:ext cx="10883348" cy="236552"/>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C2410C"/>
                </a:solidFill>
                <a:latin typeface="Be Vietnam Pro" pitchFamily="34" charset="0"/>
                <a:ea typeface="Be Vietnam Pro" pitchFamily="34" charset="-122"/>
                <a:cs typeface="Be Vietnam Pro" pitchFamily="34" charset="-120"/>
              </a:rPr>
              <a:t>THỬ NGHIỆM THỰC TẾ · HỆ CHỤP CỐ ĐỊNH</a:t>
            </a:r>
            <a:endParaRPr lang="en-US" sz="1196" dirty="0"/>
          </a:p>
        </p:txBody>
      </p:sp>
      <p:sp>
        <p:nvSpPr>
          <p:cNvPr id="3" name="Text 1"/>
          <p:cNvSpPr/>
          <p:nvPr>
            <p:ph type="title"/>
          </p:nvPr>
        </p:nvSpPr>
        <p:spPr>
          <a:xfrm>
            <a:off x="812785" y="1176294"/>
            <a:ext cx="10883348" cy="4300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Hiệu chuẩn một lần, sau đó chỉ chụp vật</a:t>
            </a:r>
            <a:endParaRPr lang="en-US" sz="2800" dirty="0"/>
          </a:p>
        </p:txBody>
      </p:sp>
      <p:pic>
        <p:nvPicPr>
          <p:cNvPr id="4" name="Image 0" descr="Ảnh chụp bàn cờ thật 10×7 ô dùng để hiệu chuẩn">    </p:cNvPr>
          <p:cNvPicPr>
            <a:picLocks noChangeAspect="1"/>
          </p:cNvPicPr>
          <p:nvPr/>
        </p:nvPicPr>
        <p:blipFill>
          <a:blip r:embed="rId1"/>
          <a:srcRect l="0" r="0" t="7404" b="7404"/>
          <a:stretch/>
        </p:blipFill>
        <p:spPr>
          <a:xfrm>
            <a:off x="812785" y="1733314"/>
            <a:ext cx="3422606" cy="2513616"/>
          </a:xfrm>
          <a:prstGeom prst="roundRect">
            <a:avLst>
              <a:gd name="adj" fmla="val 3031"/>
            </a:avLst>
          </a:prstGeom>
        </p:spPr>
      </p:pic>
      <p:sp>
        <p:nvSpPr>
          <p:cNvPr id="5" name="Text 2"/>
          <p:cNvSpPr/>
          <p:nvPr/>
        </p:nvSpPr>
        <p:spPr>
          <a:xfrm>
            <a:off x="812785" y="4310354"/>
            <a:ext cx="3523165" cy="44770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① Bàn cờ thật, ô 4,8 mm, kê cao bằng mặt vật</a:t>
            </a:r>
            <a:endParaRPr lang="en-US" sz="1200" dirty="0"/>
          </a:p>
        </p:txBody>
      </p:sp>
      <p:pic>
        <p:nvPicPr>
          <p:cNvPr id="6" name="Image 1" descr="Xu game bạc đặt trên nền vải đen, cạnh một nắp nhựa xanh">    </p:cNvPr>
          <p:cNvPicPr>
            <a:picLocks noChangeAspect="1"/>
          </p:cNvPicPr>
          <p:nvPr/>
        </p:nvPicPr>
        <p:blipFill>
          <a:blip r:embed="rId2"/>
          <a:srcRect l="0" r="0" t="6958" b="6958"/>
          <a:stretch/>
        </p:blipFill>
        <p:spPr>
          <a:xfrm>
            <a:off x="4385690" y="1733314"/>
            <a:ext cx="3422606" cy="2539927"/>
          </a:xfrm>
          <a:prstGeom prst="roundRect">
            <a:avLst>
              <a:gd name="adj" fmla="val 3000"/>
            </a:avLst>
          </a:prstGeom>
        </p:spPr>
      </p:pic>
      <p:sp>
        <p:nvSpPr>
          <p:cNvPr id="7" name="Text 3"/>
          <p:cNvSpPr/>
          <p:nvPr/>
        </p:nvSpPr>
        <p:spPr>
          <a:xfrm>
            <a:off x="4385690" y="4336666"/>
            <a:ext cx="3523165"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② Xu game bạc trên nền đen, có vật lạ</a:t>
            </a:r>
            <a:endParaRPr lang="en-US" sz="1200" dirty="0"/>
          </a:p>
        </p:txBody>
      </p:sp>
      <p:pic>
        <p:nvPicPr>
          <p:cNvPr id="8" name="Image 2" descr="Nắp chai nhựa màu xanh lá trên nền giấy trắng">    </p:cNvPr>
          <p:cNvPicPr>
            <a:picLocks noChangeAspect="1"/>
          </p:cNvPicPr>
          <p:nvPr/>
        </p:nvPicPr>
        <p:blipFill>
          <a:blip r:embed="rId3"/>
          <a:srcRect l="0" r="0" t="6958" b="6958"/>
          <a:stretch/>
        </p:blipFill>
        <p:spPr>
          <a:xfrm>
            <a:off x="7958594" y="1733314"/>
            <a:ext cx="3422606" cy="2539927"/>
          </a:xfrm>
          <a:prstGeom prst="roundRect">
            <a:avLst>
              <a:gd name="adj" fmla="val 3000"/>
            </a:avLst>
          </a:prstGeom>
        </p:spPr>
      </p:pic>
      <p:sp>
        <p:nvSpPr>
          <p:cNvPr id="9" name="Text 4"/>
          <p:cNvSpPr/>
          <p:nvPr/>
        </p:nvSpPr>
        <p:spPr>
          <a:xfrm>
            <a:off x="7958594" y="4336666"/>
            <a:ext cx="3523165"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③ Nắp chai xanh trên nền trắng</a:t>
            </a:r>
            <a:endParaRPr lang="en-US" sz="1200" dirty="0"/>
          </a:p>
        </p:txBody>
      </p:sp>
      <p:sp>
        <p:nvSpPr>
          <p:cNvPr id="10" name="Shape 5"/>
          <p:cNvSpPr/>
          <p:nvPr/>
        </p:nvSpPr>
        <p:spPr>
          <a:xfrm>
            <a:off x="815960" y="4888192"/>
            <a:ext cx="3414199" cy="950633"/>
          </a:xfrm>
          <a:prstGeom prst="roundRect">
            <a:avLst>
              <a:gd name="adj" fmla="val 7682"/>
            </a:avLst>
          </a:prstGeom>
          <a:solidFill>
            <a:srgbClr val="FFFFFF"/>
          </a:solidFill>
          <a:ln w="6350">
            <a:solidFill>
              <a:srgbClr val="E2E4E8"/>
            </a:solidFill>
            <a:prstDash val="solid"/>
          </a:ln>
        </p:spPr>
      </p:sp>
      <p:sp>
        <p:nvSpPr>
          <p:cNvPr id="11" name="Text 6"/>
          <p:cNvSpPr/>
          <p:nvPr/>
        </p:nvSpPr>
        <p:spPr>
          <a:xfrm>
            <a:off x="995274" y="5029361"/>
            <a:ext cx="3147238"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Camera cố định</a:t>
            </a:r>
            <a:endParaRPr lang="en-US" sz="1400" dirty="0"/>
          </a:p>
        </p:txBody>
      </p:sp>
      <p:sp>
        <p:nvSpPr>
          <p:cNvPr id="12" name="Text 7"/>
          <p:cNvSpPr/>
          <p:nvPr/>
        </p:nvSpPr>
        <p:spPr>
          <a:xfrm>
            <a:off x="995274" y="5280713"/>
            <a:ext cx="314723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Giá đỡ, zoom 1x, tắt HDR, khóa AE/AF</a:t>
            </a:r>
            <a:endParaRPr lang="en-US" sz="1200" dirty="0"/>
          </a:p>
        </p:txBody>
      </p:sp>
      <p:sp>
        <p:nvSpPr>
          <p:cNvPr id="13" name="Shape 8"/>
          <p:cNvSpPr/>
          <p:nvPr/>
        </p:nvSpPr>
        <p:spPr>
          <a:xfrm>
            <a:off x="4388865" y="4888192"/>
            <a:ext cx="3414199" cy="950633"/>
          </a:xfrm>
          <a:prstGeom prst="roundRect">
            <a:avLst>
              <a:gd name="adj" fmla="val 7682"/>
            </a:avLst>
          </a:prstGeom>
          <a:solidFill>
            <a:srgbClr val="FFFFFF"/>
          </a:solidFill>
          <a:ln w="6350">
            <a:solidFill>
              <a:srgbClr val="E2E4E8"/>
            </a:solidFill>
            <a:prstDash val="solid"/>
          </a:ln>
        </p:spPr>
      </p:sp>
      <p:sp>
        <p:nvSpPr>
          <p:cNvPr id="14" name="Text 9"/>
          <p:cNvSpPr/>
          <p:nvPr/>
        </p:nvSpPr>
        <p:spPr>
          <a:xfrm>
            <a:off x="4568179" y="5029361"/>
            <a:ext cx="3147238"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Hiệu chuẩn 1 lần</a:t>
            </a:r>
            <a:endParaRPr lang="en-US" sz="1400" dirty="0"/>
          </a:p>
        </p:txBody>
      </p:sp>
      <p:sp>
        <p:nvSpPr>
          <p:cNvPr id="15" name="Text 10"/>
          <p:cNvSpPr/>
          <p:nvPr/>
        </p:nvSpPr>
        <p:spPr>
          <a:xfrm>
            <a:off x="4568179" y="5280713"/>
            <a:ext cx="314723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54 góc → H và k lưu vào he_chup.npz</a:t>
            </a:r>
            <a:endParaRPr lang="en-US" sz="1200" dirty="0"/>
          </a:p>
        </p:txBody>
      </p:sp>
      <p:sp>
        <p:nvSpPr>
          <p:cNvPr id="16" name="Shape 11"/>
          <p:cNvSpPr/>
          <p:nvPr/>
        </p:nvSpPr>
        <p:spPr>
          <a:xfrm>
            <a:off x="7961769" y="4888192"/>
            <a:ext cx="3414199" cy="950633"/>
          </a:xfrm>
          <a:prstGeom prst="roundRect">
            <a:avLst>
              <a:gd name="adj" fmla="val 7682"/>
            </a:avLst>
          </a:prstGeom>
          <a:solidFill>
            <a:srgbClr val="FFFFFF"/>
          </a:solidFill>
          <a:ln w="6350">
            <a:solidFill>
              <a:srgbClr val="E2E4E8"/>
            </a:solidFill>
            <a:prstDash val="solid"/>
          </a:ln>
        </p:spPr>
      </p:sp>
      <p:sp>
        <p:nvSpPr>
          <p:cNvPr id="17" name="Text 12"/>
          <p:cNvSpPr/>
          <p:nvPr/>
        </p:nvSpPr>
        <p:spPr>
          <a:xfrm>
            <a:off x="8141083" y="5029361"/>
            <a:ext cx="3147238" cy="235450"/>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14213D"/>
                </a:solidFill>
                <a:latin typeface="Be Vietnam Pro" pitchFamily="34" charset="0"/>
                <a:ea typeface="Be Vietnam Pro" pitchFamily="34" charset="-122"/>
                <a:cs typeface="Be Vietnam Pro" pitchFamily="34" charset="-120"/>
              </a:rPr>
              <a:t>Nền theo vật</a:t>
            </a:r>
            <a:endParaRPr lang="en-US" sz="1396" dirty="0"/>
          </a:p>
        </p:txBody>
      </p:sp>
      <p:sp>
        <p:nvSpPr>
          <p:cNvPr id="18" name="Text 13"/>
          <p:cNvSpPr/>
          <p:nvPr/>
        </p:nvSpPr>
        <p:spPr>
          <a:xfrm>
            <a:off x="8141083" y="5277483"/>
            <a:ext cx="3147238" cy="445573"/>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568"/>
                </a:solidFill>
                <a:latin typeface="Be Vietnam Pro" pitchFamily="34" charset="0"/>
                <a:ea typeface="Be Vietnam Pro" pitchFamily="34" charset="-122"/>
                <a:cs typeface="Be Vietnam Pro" pitchFamily="34" charset="-120"/>
              </a:rPr>
              <a:t>Xu bạc: nền đen · Nắp màu: kênh bão hòa S</a:t>
            </a:r>
            <a:endParaRPr lang="en-US" sz="1185" dirty="0"/>
          </a:p>
        </p:txBody>
      </p:sp>
      <p:sp>
        <p:nvSpPr>
          <p:cNvPr id="19" name="Text 14"/>
          <p:cNvSpPr/>
          <p:nvPr/>
        </p:nvSpPr>
        <p:spPr>
          <a:xfrm>
            <a:off x="812785" y="6238211"/>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THỬ NGHIỆM THỰC TẾ · NHỮNG GÌ ĐÃ LÀM ĐƯỢC</a:t>
            </a:r>
            <a:endParaRPr lang="en-US" sz="1200" dirty="0"/>
          </a:p>
        </p:txBody>
      </p:sp>
      <p:sp>
        <p:nvSpPr>
          <p:cNvPr id="3" name="Text 1"/>
          <p:cNvSpPr/>
          <p:nvPr>
            <p:ph type="title"/>
          </p:nvPr>
        </p:nvSpPr>
        <p:spPr>
          <a:xfrm>
            <a:off x="812785" y="1178502"/>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Quy trình đo hai lệnh với hệ chụp cố định</a:t>
            </a:r>
            <a:endParaRPr lang="en-US" sz="2800" dirty="0"/>
          </a:p>
        </p:txBody>
      </p:sp>
      <p:sp>
        <p:nvSpPr>
          <p:cNvPr id="4" name="Shape 2"/>
          <p:cNvSpPr/>
          <p:nvPr/>
        </p:nvSpPr>
        <p:spPr>
          <a:xfrm>
            <a:off x="815960" y="1742883"/>
            <a:ext cx="1722776" cy="841199"/>
          </a:xfrm>
          <a:prstGeom prst="roundRect">
            <a:avLst>
              <a:gd name="adj" fmla="val 8681"/>
            </a:avLst>
          </a:prstGeom>
          <a:solidFill>
            <a:srgbClr val="FFFFFF"/>
          </a:solidFill>
          <a:ln w="6350">
            <a:solidFill>
              <a:srgbClr val="E2E4E8"/>
            </a:solidFill>
            <a:prstDash val="solid"/>
          </a:ln>
        </p:spPr>
      </p:sp>
      <p:sp>
        <p:nvSpPr>
          <p:cNvPr id="5" name="Text 3"/>
          <p:cNvSpPr/>
          <p:nvPr/>
        </p:nvSpPr>
        <p:spPr>
          <a:xfrm>
            <a:off x="944416" y="1845983"/>
            <a:ext cx="1516665"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Be Vietnam Pro" pitchFamily="34" charset="0"/>
                <a:ea typeface="Be Vietnam Pro" pitchFamily="34" charset="-122"/>
                <a:cs typeface="Be Vietnam Pro" pitchFamily="34" charset="-120"/>
              </a:rPr>
              <a:t>①</a:t>
            </a:r>
            <a:endParaRPr lang="en-US" sz="1200" dirty="0"/>
          </a:p>
        </p:txBody>
      </p:sp>
      <p:sp>
        <p:nvSpPr>
          <p:cNvPr id="6" name="Text 4"/>
          <p:cNvSpPr/>
          <p:nvPr/>
        </p:nvSpPr>
        <p:spPr>
          <a:xfrm>
            <a:off x="944416" y="2084698"/>
            <a:ext cx="1516665"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13D"/>
                </a:solidFill>
                <a:latin typeface="Be Vietnam Pro" pitchFamily="34" charset="0"/>
                <a:ea typeface="Be Vietnam Pro" pitchFamily="34" charset="-122"/>
                <a:cs typeface="Be Vietnam Pro" pitchFamily="34" charset="-120"/>
              </a:rPr>
              <a:t>Chụp bàn cờ, kê cao bằng mặt vật</a:t>
            </a:r>
            <a:endParaRPr lang="en-US" sz="1200" dirty="0"/>
          </a:p>
        </p:txBody>
      </p:sp>
      <p:pic>
        <p:nvPicPr>
          <p:cNvPr id="7" name="Image 0" descr="arrow-right">    </p:cNvPr>
          <p:cNvPicPr>
            <a:picLocks noChangeAspect="1"/>
          </p:cNvPicPr>
          <p:nvPr/>
        </p:nvPicPr>
        <p:blipFill>
          <a:blip r:embed="rId1"/>
          <a:srcRect l="-7" r="-7" t="0" b="0"/>
          <a:stretch/>
        </p:blipFill>
        <p:spPr>
          <a:xfrm>
            <a:off x="2643482" y="2087271"/>
            <a:ext cx="279356" cy="152356"/>
          </a:xfrm>
          <a:prstGeom prst="rect">
            <a:avLst/>
          </a:prstGeom>
        </p:spPr>
      </p:pic>
      <p:sp>
        <p:nvSpPr>
          <p:cNvPr id="8" name="Shape 5"/>
          <p:cNvSpPr/>
          <p:nvPr/>
        </p:nvSpPr>
        <p:spPr>
          <a:xfrm>
            <a:off x="3027583" y="1742883"/>
            <a:ext cx="1722849" cy="841199"/>
          </a:xfrm>
          <a:prstGeom prst="roundRect">
            <a:avLst>
              <a:gd name="adj" fmla="val 8681"/>
            </a:avLst>
          </a:prstGeom>
          <a:solidFill>
            <a:srgbClr val="FFFFFF"/>
          </a:solidFill>
          <a:ln w="6350">
            <a:solidFill>
              <a:srgbClr val="E2E4E8"/>
            </a:solidFill>
            <a:prstDash val="solid"/>
          </a:ln>
        </p:spPr>
      </p:sp>
      <p:sp>
        <p:nvSpPr>
          <p:cNvPr id="9" name="Text 6"/>
          <p:cNvSpPr/>
          <p:nvPr/>
        </p:nvSpPr>
        <p:spPr>
          <a:xfrm>
            <a:off x="3156039" y="1845983"/>
            <a:ext cx="1516739"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Be Vietnam Pro" pitchFamily="34" charset="0"/>
                <a:ea typeface="Be Vietnam Pro" pitchFamily="34" charset="-122"/>
                <a:cs typeface="Be Vietnam Pro" pitchFamily="34" charset="-120"/>
              </a:rPr>
              <a:t>② co_dinh</a:t>
            </a:r>
            <a:endParaRPr lang="en-US" sz="1200" dirty="0"/>
          </a:p>
        </p:txBody>
      </p:sp>
      <p:sp>
        <p:nvSpPr>
          <p:cNvPr id="10" name="Text 7"/>
          <p:cNvSpPr/>
          <p:nvPr/>
        </p:nvSpPr>
        <p:spPr>
          <a:xfrm>
            <a:off x="3156039" y="2084698"/>
            <a:ext cx="1516739"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13D"/>
                </a:solidFill>
                <a:latin typeface="Be Vietnam Pro" pitchFamily="34" charset="0"/>
                <a:ea typeface="Be Vietnam Pro" pitchFamily="34" charset="-122"/>
                <a:cs typeface="Be Vietnam Pro" pitchFamily="34" charset="-120"/>
              </a:rPr>
              <a:t>54 góc → ma trận nắn H, tỉ lệ k</a:t>
            </a:r>
            <a:endParaRPr lang="en-US" sz="1200" dirty="0"/>
          </a:p>
        </p:txBody>
      </p:sp>
      <p:pic>
        <p:nvPicPr>
          <p:cNvPr id="11" name="Image 1" descr="arrow-right">    </p:cNvPr>
          <p:cNvPicPr>
            <a:picLocks noChangeAspect="1"/>
          </p:cNvPicPr>
          <p:nvPr/>
        </p:nvPicPr>
        <p:blipFill>
          <a:blip r:embed="rId2"/>
          <a:srcRect l="-7" r="-7" t="0" b="0"/>
          <a:stretch/>
        </p:blipFill>
        <p:spPr>
          <a:xfrm>
            <a:off x="4855178" y="2087271"/>
            <a:ext cx="279356" cy="152356"/>
          </a:xfrm>
          <a:prstGeom prst="rect">
            <a:avLst/>
          </a:prstGeom>
        </p:spPr>
      </p:pic>
      <p:sp>
        <p:nvSpPr>
          <p:cNvPr id="12" name="Shape 8"/>
          <p:cNvSpPr/>
          <p:nvPr/>
        </p:nvSpPr>
        <p:spPr>
          <a:xfrm>
            <a:off x="5236105" y="1744414"/>
            <a:ext cx="1719718" cy="838141"/>
          </a:xfrm>
          <a:prstGeom prst="roundRect">
            <a:avLst>
              <a:gd name="adj" fmla="val 9092"/>
            </a:avLst>
          </a:prstGeom>
          <a:solidFill>
            <a:srgbClr val="14213D"/>
          </a:solidFill>
          <a:ln/>
        </p:spPr>
      </p:sp>
      <p:sp>
        <p:nvSpPr>
          <p:cNvPr id="13" name="Text 9"/>
          <p:cNvSpPr/>
          <p:nvPr/>
        </p:nvSpPr>
        <p:spPr>
          <a:xfrm>
            <a:off x="5363031" y="1845983"/>
            <a:ext cx="1516665"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9E6B"/>
                </a:solidFill>
                <a:latin typeface="Be Vietnam Pro" pitchFamily="34" charset="0"/>
                <a:ea typeface="Be Vietnam Pro" pitchFamily="34" charset="-122"/>
                <a:cs typeface="Be Vietnam Pro" pitchFamily="34" charset="-120"/>
              </a:rPr>
              <a:t>③ he_chup.npz</a:t>
            </a:r>
            <a:endParaRPr lang="en-US" sz="1200" dirty="0"/>
          </a:p>
        </p:txBody>
      </p:sp>
      <p:sp>
        <p:nvSpPr>
          <p:cNvPr id="14" name="Text 10"/>
          <p:cNvSpPr/>
          <p:nvPr/>
        </p:nvSpPr>
        <p:spPr>
          <a:xfrm>
            <a:off x="5363031" y="2084698"/>
            <a:ext cx="1516665"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7F6F2"/>
                </a:solidFill>
                <a:latin typeface="Be Vietnam Pro" pitchFamily="34" charset="0"/>
                <a:ea typeface="Be Vietnam Pro" pitchFamily="34" charset="-122"/>
                <a:cs typeface="Be Vietnam Pro" pitchFamily="34" charset="-120"/>
              </a:rPr>
              <a:t>Lưu H, k, kích thước ảnh</a:t>
            </a:r>
            <a:endParaRPr lang="en-US" sz="1200" dirty="0"/>
          </a:p>
        </p:txBody>
      </p:sp>
      <p:pic>
        <p:nvPicPr>
          <p:cNvPr id="15" name="Image 2" descr="arrow-right">    </p:cNvPr>
          <p:cNvPicPr>
            <a:picLocks noChangeAspect="1"/>
          </p:cNvPicPr>
          <p:nvPr/>
        </p:nvPicPr>
        <p:blipFill>
          <a:blip r:embed="rId3"/>
          <a:srcRect l="-7" r="-7" t="0" b="0"/>
          <a:stretch/>
        </p:blipFill>
        <p:spPr>
          <a:xfrm>
            <a:off x="7057394" y="2087271"/>
            <a:ext cx="279356" cy="152356"/>
          </a:xfrm>
          <a:prstGeom prst="rect">
            <a:avLst/>
          </a:prstGeom>
        </p:spPr>
      </p:pic>
      <p:sp>
        <p:nvSpPr>
          <p:cNvPr id="16" name="Shape 11"/>
          <p:cNvSpPr/>
          <p:nvPr/>
        </p:nvSpPr>
        <p:spPr>
          <a:xfrm>
            <a:off x="7441495" y="1742883"/>
            <a:ext cx="1722849" cy="841199"/>
          </a:xfrm>
          <a:prstGeom prst="roundRect">
            <a:avLst>
              <a:gd name="adj" fmla="val 8681"/>
            </a:avLst>
          </a:prstGeom>
          <a:solidFill>
            <a:srgbClr val="FFFFFF"/>
          </a:solidFill>
          <a:ln w="6350">
            <a:solidFill>
              <a:srgbClr val="E2E4E8"/>
            </a:solidFill>
            <a:prstDash val="solid"/>
          </a:ln>
        </p:spPr>
      </p:sp>
      <p:sp>
        <p:nvSpPr>
          <p:cNvPr id="17" name="Text 12"/>
          <p:cNvSpPr/>
          <p:nvPr/>
        </p:nvSpPr>
        <p:spPr>
          <a:xfrm>
            <a:off x="7569950" y="1845983"/>
            <a:ext cx="1516739"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Be Vietnam Pro" pitchFamily="34" charset="0"/>
                <a:ea typeface="Be Vietnam Pro" pitchFamily="34" charset="-122"/>
                <a:cs typeface="Be Vietnam Pro" pitchFamily="34" charset="-120"/>
              </a:rPr>
              <a:t>④</a:t>
            </a:r>
            <a:endParaRPr lang="en-US" sz="1200" dirty="0"/>
          </a:p>
        </p:txBody>
      </p:sp>
      <p:sp>
        <p:nvSpPr>
          <p:cNvPr id="18" name="Text 13"/>
          <p:cNvSpPr/>
          <p:nvPr/>
        </p:nvSpPr>
        <p:spPr>
          <a:xfrm>
            <a:off x="7569950" y="2084698"/>
            <a:ext cx="1516739"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13D"/>
                </a:solidFill>
                <a:latin typeface="Be Vietnam Pro" pitchFamily="34" charset="0"/>
                <a:ea typeface="Be Vietnam Pro" pitchFamily="34" charset="-122"/>
                <a:cs typeface="Be Vietnam Pro" pitchFamily="34" charset="-120"/>
              </a:rPr>
              <a:t>Bỏ bàn cờ, chỉ chụp vật</a:t>
            </a:r>
            <a:endParaRPr lang="en-US" sz="1200" dirty="0"/>
          </a:p>
        </p:txBody>
      </p:sp>
      <p:pic>
        <p:nvPicPr>
          <p:cNvPr id="19" name="Image 3" descr="arrow-right">    </p:cNvPr>
          <p:cNvPicPr>
            <a:picLocks noChangeAspect="1"/>
          </p:cNvPicPr>
          <p:nvPr/>
        </p:nvPicPr>
        <p:blipFill>
          <a:blip r:embed="rId4"/>
          <a:srcRect l="-7" r="-7" t="0" b="0"/>
          <a:stretch/>
        </p:blipFill>
        <p:spPr>
          <a:xfrm>
            <a:off x="9269090" y="2087271"/>
            <a:ext cx="279356" cy="152356"/>
          </a:xfrm>
          <a:prstGeom prst="rect">
            <a:avLst/>
          </a:prstGeom>
        </p:spPr>
      </p:pic>
      <p:sp>
        <p:nvSpPr>
          <p:cNvPr id="20" name="Shape 14"/>
          <p:cNvSpPr/>
          <p:nvPr/>
        </p:nvSpPr>
        <p:spPr>
          <a:xfrm>
            <a:off x="9653192" y="1742883"/>
            <a:ext cx="1722776" cy="841199"/>
          </a:xfrm>
          <a:prstGeom prst="roundRect">
            <a:avLst>
              <a:gd name="adj" fmla="val 8681"/>
            </a:avLst>
          </a:prstGeom>
          <a:solidFill>
            <a:srgbClr val="FFFFFF"/>
          </a:solidFill>
          <a:ln w="6350">
            <a:solidFill>
              <a:srgbClr val="E2E4E8"/>
            </a:solidFill>
            <a:prstDash val="solid"/>
          </a:ln>
        </p:spPr>
      </p:sp>
      <p:sp>
        <p:nvSpPr>
          <p:cNvPr id="21" name="Text 15"/>
          <p:cNvSpPr/>
          <p:nvPr/>
        </p:nvSpPr>
        <p:spPr>
          <a:xfrm>
            <a:off x="9781647" y="1845983"/>
            <a:ext cx="1516665"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Be Vietnam Pro" pitchFamily="34" charset="0"/>
                <a:ea typeface="Be Vietnam Pro" pitchFamily="34" charset="-122"/>
                <a:cs typeface="Be Vietnam Pro" pitchFamily="34" charset="-120"/>
              </a:rPr>
              <a:t>⑤ --he-chup</a:t>
            </a:r>
            <a:endParaRPr lang="en-US" sz="1200" dirty="0"/>
          </a:p>
        </p:txBody>
      </p:sp>
      <p:sp>
        <p:nvSpPr>
          <p:cNvPr id="22" name="Text 16"/>
          <p:cNvSpPr/>
          <p:nvPr/>
        </p:nvSpPr>
        <p:spPr>
          <a:xfrm>
            <a:off x="9781647" y="2084698"/>
            <a:ext cx="1516665"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13D"/>
                </a:solidFill>
                <a:latin typeface="Be Vietnam Pro" pitchFamily="34" charset="0"/>
                <a:ea typeface="Be Vietnam Pro" pitchFamily="34" charset="-122"/>
                <a:cs typeface="Be Vietnam Pro" pitchFamily="34" charset="-120"/>
              </a:rPr>
              <a:t>Nắn ảnh, đổi sang mm, tính S</a:t>
            </a:r>
            <a:endParaRPr lang="en-US" sz="1200" dirty="0"/>
          </a:p>
        </p:txBody>
      </p:sp>
      <p:sp>
        <p:nvSpPr>
          <p:cNvPr id="23" name="Shape 17"/>
          <p:cNvSpPr/>
          <p:nvPr/>
        </p:nvSpPr>
        <p:spPr>
          <a:xfrm>
            <a:off x="812785" y="2739616"/>
            <a:ext cx="3454356" cy="903920"/>
          </a:xfrm>
          <a:prstGeom prst="roundRect">
            <a:avLst>
              <a:gd name="adj" fmla="val 8430"/>
            </a:avLst>
          </a:prstGeom>
          <a:solidFill>
            <a:srgbClr val="EEF1F4"/>
          </a:solidFill>
          <a:ln/>
        </p:spPr>
      </p:sp>
      <p:sp>
        <p:nvSpPr>
          <p:cNvPr id="24" name="Text 18"/>
          <p:cNvSpPr/>
          <p:nvPr/>
        </p:nvSpPr>
        <p:spPr>
          <a:xfrm>
            <a:off x="965141" y="2866541"/>
            <a:ext cx="3244134"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Hiệu chuẩn bằng 1 ảnh</a:t>
            </a:r>
            <a:endParaRPr lang="en-US" sz="1400" dirty="0"/>
          </a:p>
        </p:txBody>
      </p:sp>
      <p:sp>
        <p:nvSpPr>
          <p:cNvPr id="25" name="Text 19"/>
          <p:cNvSpPr/>
          <p:nvPr/>
        </p:nvSpPr>
        <p:spPr>
          <a:xfrm>
            <a:off x="965141" y="3105181"/>
            <a:ext cx="330200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Sai lệch góc sau nắn ≈ 0,7 px (≈ 0,03 mm)</a:t>
            </a:r>
            <a:endParaRPr lang="en-US" sz="1200" dirty="0"/>
          </a:p>
        </p:txBody>
      </p:sp>
      <p:sp>
        <p:nvSpPr>
          <p:cNvPr id="26" name="Shape 20"/>
          <p:cNvSpPr/>
          <p:nvPr/>
        </p:nvSpPr>
        <p:spPr>
          <a:xfrm>
            <a:off x="4368712" y="2739616"/>
            <a:ext cx="3454430" cy="903920"/>
          </a:xfrm>
          <a:prstGeom prst="roundRect">
            <a:avLst>
              <a:gd name="adj" fmla="val 8430"/>
            </a:avLst>
          </a:prstGeom>
          <a:solidFill>
            <a:srgbClr val="EEF1F4"/>
          </a:solidFill>
          <a:ln/>
        </p:spPr>
      </p:sp>
      <p:sp>
        <p:nvSpPr>
          <p:cNvPr id="27" name="Text 21"/>
          <p:cNvSpPr/>
          <p:nvPr/>
        </p:nvSpPr>
        <p:spPr>
          <a:xfrm>
            <a:off x="4521068" y="2866541"/>
            <a:ext cx="3244210"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Hiệu chuẩn theo độ cao vật</a:t>
            </a:r>
            <a:endParaRPr lang="en-US" sz="1400" dirty="0"/>
          </a:p>
        </p:txBody>
      </p:sp>
      <p:sp>
        <p:nvSpPr>
          <p:cNvPr id="28" name="Text 22"/>
          <p:cNvSpPr/>
          <p:nvPr/>
        </p:nvSpPr>
        <p:spPr>
          <a:xfrm>
            <a:off x="4521068" y="3105181"/>
            <a:ext cx="32442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Xu 0,0459 · nắp 0,0426 mm/px, chênh 7,8%</a:t>
            </a:r>
            <a:endParaRPr lang="en-US" sz="1200" dirty="0"/>
          </a:p>
        </p:txBody>
      </p:sp>
      <p:sp>
        <p:nvSpPr>
          <p:cNvPr id="29" name="Shape 23"/>
          <p:cNvSpPr/>
          <p:nvPr/>
        </p:nvSpPr>
        <p:spPr>
          <a:xfrm>
            <a:off x="7924713" y="2739616"/>
            <a:ext cx="3454430" cy="903920"/>
          </a:xfrm>
          <a:prstGeom prst="roundRect">
            <a:avLst>
              <a:gd name="adj" fmla="val 8430"/>
            </a:avLst>
          </a:prstGeom>
          <a:solidFill>
            <a:srgbClr val="EEF1F4"/>
          </a:solidFill>
          <a:ln/>
        </p:spPr>
      </p:sp>
      <p:sp>
        <p:nvSpPr>
          <p:cNvPr id="30" name="Text 24"/>
          <p:cNvSpPr/>
          <p:nvPr/>
        </p:nvSpPr>
        <p:spPr>
          <a:xfrm>
            <a:off x="8077069" y="2866541"/>
            <a:ext cx="3244210"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Kiểm tra chế độ chụp</a:t>
            </a:r>
            <a:endParaRPr lang="en-US" sz="1400" dirty="0"/>
          </a:p>
        </p:txBody>
      </p:sp>
      <p:sp>
        <p:nvSpPr>
          <p:cNvPr id="31" name="Text 25"/>
          <p:cNvSpPr/>
          <p:nvPr/>
        </p:nvSpPr>
        <p:spPr>
          <a:xfrm>
            <a:off x="8077069" y="3105181"/>
            <a:ext cx="32442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Ảnh khác độ phân giải lúc hiệu chuẩn → báo lỗi</a:t>
            </a:r>
            <a:endParaRPr lang="en-US" sz="1200" dirty="0"/>
          </a:p>
        </p:txBody>
      </p:sp>
      <p:sp>
        <p:nvSpPr>
          <p:cNvPr id="32" name="Shape 26"/>
          <p:cNvSpPr/>
          <p:nvPr/>
        </p:nvSpPr>
        <p:spPr>
          <a:xfrm>
            <a:off x="812785" y="3745105"/>
            <a:ext cx="3454356" cy="903920"/>
          </a:xfrm>
          <a:prstGeom prst="roundRect">
            <a:avLst>
              <a:gd name="adj" fmla="val 8430"/>
            </a:avLst>
          </a:prstGeom>
          <a:solidFill>
            <a:srgbClr val="EEF1F4"/>
          </a:solidFill>
          <a:ln/>
        </p:spPr>
      </p:sp>
      <p:sp>
        <p:nvSpPr>
          <p:cNvPr id="33" name="Text 27"/>
          <p:cNvSpPr/>
          <p:nvPr/>
        </p:nvSpPr>
        <p:spPr>
          <a:xfrm>
            <a:off x="965141" y="3872030"/>
            <a:ext cx="3244134"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Nền và kênh màu</a:t>
            </a:r>
            <a:endParaRPr lang="en-US" sz="1400" dirty="0"/>
          </a:p>
        </p:txBody>
      </p:sp>
      <p:sp>
        <p:nvSpPr>
          <p:cNvPr id="34" name="Text 28"/>
          <p:cNvSpPr/>
          <p:nvPr/>
        </p:nvSpPr>
        <p:spPr>
          <a:xfrm>
            <a:off x="965141" y="4110670"/>
            <a:ext cx="3244134"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Xu bạc: nền đen (C 0,64 → 0,88) · Nắp màu: kênh S</a:t>
            </a:r>
            <a:endParaRPr lang="en-US" sz="1200" dirty="0"/>
          </a:p>
        </p:txBody>
      </p:sp>
      <p:sp>
        <p:nvSpPr>
          <p:cNvPr id="35" name="Shape 29"/>
          <p:cNvSpPr/>
          <p:nvPr/>
        </p:nvSpPr>
        <p:spPr>
          <a:xfrm>
            <a:off x="4368712" y="3745105"/>
            <a:ext cx="3454430" cy="903920"/>
          </a:xfrm>
          <a:prstGeom prst="roundRect">
            <a:avLst>
              <a:gd name="adj" fmla="val 8430"/>
            </a:avLst>
          </a:prstGeom>
          <a:solidFill>
            <a:srgbClr val="EEF1F4"/>
          </a:solidFill>
          <a:ln/>
        </p:spPr>
      </p:sp>
      <p:sp>
        <p:nvSpPr>
          <p:cNvPr id="36" name="Text 30"/>
          <p:cNvSpPr/>
          <p:nvPr/>
        </p:nvSpPr>
        <p:spPr>
          <a:xfrm>
            <a:off x="4521068" y="3872030"/>
            <a:ext cx="3244210"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Loại vật lạ</a:t>
            </a:r>
            <a:endParaRPr lang="en-US" sz="1400" dirty="0"/>
          </a:p>
        </p:txBody>
      </p:sp>
      <p:sp>
        <p:nvSpPr>
          <p:cNvPr id="37" name="Text 31"/>
          <p:cNvSpPr/>
          <p:nvPr/>
        </p:nvSpPr>
        <p:spPr>
          <a:xfrm>
            <a:off x="4521068" y="4110670"/>
            <a:ext cx="32442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Vật không tròn trong ảnh bị loại bằng C và E</a:t>
            </a:r>
            <a:endParaRPr lang="en-US" sz="1200" dirty="0"/>
          </a:p>
        </p:txBody>
      </p:sp>
      <p:sp>
        <p:nvSpPr>
          <p:cNvPr id="38" name="Shape 32"/>
          <p:cNvSpPr/>
          <p:nvPr/>
        </p:nvSpPr>
        <p:spPr>
          <a:xfrm>
            <a:off x="7924713" y="3745105"/>
            <a:ext cx="3454430" cy="903920"/>
          </a:xfrm>
          <a:prstGeom prst="roundRect">
            <a:avLst>
              <a:gd name="adj" fmla="val 8430"/>
            </a:avLst>
          </a:prstGeom>
          <a:solidFill>
            <a:srgbClr val="EEF1F4"/>
          </a:solidFill>
          <a:ln/>
        </p:spPr>
      </p:sp>
      <p:sp>
        <p:nvSpPr>
          <p:cNvPr id="39" name="Text 33"/>
          <p:cNvSpPr/>
          <p:nvPr/>
        </p:nvSpPr>
        <p:spPr>
          <a:xfrm>
            <a:off x="8077069" y="3872030"/>
            <a:ext cx="3244210"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Thuật toán ổn định</a:t>
            </a:r>
            <a:endParaRPr lang="en-US" sz="1400" dirty="0"/>
          </a:p>
        </p:txBody>
      </p:sp>
      <p:sp>
        <p:nvSpPr>
          <p:cNvPr id="40" name="Text 34"/>
          <p:cNvSpPr/>
          <p:nvPr/>
        </p:nvSpPr>
        <p:spPr>
          <a:xfrm>
            <a:off x="8077069" y="4110670"/>
            <a:ext cx="324421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Độ lệch còn lại ≤ 2 px; A − B dưới 0,5%</a:t>
            </a:r>
            <a:endParaRPr lang="en-US" sz="1200" dirty="0"/>
          </a:p>
        </p:txBody>
      </p:sp>
      <p:sp>
        <p:nvSpPr>
          <p:cNvPr id="41" name="Text 35"/>
          <p:cNvSpPr/>
          <p:nvPr/>
        </p:nvSpPr>
        <p:spPr>
          <a:xfrm>
            <a:off x="812785" y="4801381"/>
            <a:ext cx="10883348" cy="25646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3412"/>
                </a:solidFill>
                <a:latin typeface="Be Vietnam Pro" pitchFamily="34" charset="0"/>
                <a:ea typeface="Be Vietnam Pro" pitchFamily="34" charset="-122"/>
                <a:cs typeface="Be Vietnam Pro" pitchFamily="34" charset="-120"/>
              </a:rPr>
              <a:t>Giới hạn:</a:t>
            </a:r>
            <a:r>
              <a:rPr lang="en-US" sz="1300" dirty="0">
                <a:solidFill>
                  <a:srgbClr val="9A3412"/>
                </a:solidFill>
                <a:latin typeface="Be Vietnam Pro" pitchFamily="34" charset="0"/>
                <a:ea typeface="Be Vietnam Pro" pitchFamily="34" charset="-122"/>
                <a:cs typeface="Be Vietnam Pro" pitchFamily="34" charset="-120"/>
              </a:rPr>
              <a:t> chỉ chính xác khi vật ở giữa ảnh, đúng chỗ bàn cờ; nhạy với độ cao (≈ 0,7% đường kính mỗi mm).</a:t>
            </a:r>
            <a:endParaRPr lang="en-US" sz="1300" dirty="0"/>
          </a:p>
        </p:txBody>
      </p:sp>
      <p:sp>
        <p:nvSpPr>
          <p:cNvPr id="42" name="Text 36"/>
          <p:cNvSpPr/>
          <p:nvPr/>
        </p:nvSpPr>
        <p:spPr>
          <a:xfrm>
            <a:off x="812785" y="623821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1F4"/>
        </a:solidFill>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THỬ NGHIỆM THỰC TẾ · KẾT QUẢ</a:t>
            </a:r>
            <a:endParaRPr lang="en-US" sz="1200" dirty="0"/>
          </a:p>
        </p:txBody>
      </p:sp>
      <p:sp>
        <p:nvSpPr>
          <p:cNvPr id="3" name="Text 1"/>
          <p:cNvSpPr/>
          <p:nvPr>
            <p:ph type="title"/>
          </p:nvPr>
        </p:nvSpPr>
        <p:spPr>
          <a:xfrm>
            <a:off x="812785" y="1178502"/>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Kết quả đo xu game và nắp chai</a:t>
            </a:r>
            <a:endParaRPr lang="en-US" sz="2800" dirty="0"/>
          </a:p>
        </p:txBody>
      </p:sp>
      <p:sp>
        <p:nvSpPr>
          <p:cNvPr id="4" name="Shape 2"/>
          <p:cNvSpPr/>
          <p:nvPr/>
        </p:nvSpPr>
        <p:spPr>
          <a:xfrm>
            <a:off x="812785" y="1739714"/>
            <a:ext cx="10566357" cy="1966222"/>
          </a:xfrm>
          <a:prstGeom prst="roundRect">
            <a:avLst>
              <a:gd name="adj" fmla="val 5167"/>
            </a:avLst>
          </a:prstGeom>
          <a:solidFill>
            <a:srgbClr val="FFFFFF"/>
          </a:solidFill>
          <a:ln/>
        </p:spPr>
      </p:sp>
      <p:pic>
        <p:nvPicPr>
          <p:cNvPr id="5" name="Image 0" descr="Xu game với đường tròn khớp màu đỏ và điểm biên màu xanh ôm sát mép">    </p:cNvPr>
          <p:cNvPicPr>
            <a:picLocks noChangeAspect="1"/>
          </p:cNvPicPr>
          <p:nvPr/>
        </p:nvPicPr>
        <p:blipFill>
          <a:blip r:embed="rId1"/>
          <a:srcRect l="0" r="0" t="0" b="0"/>
          <a:stretch/>
        </p:blipFill>
        <p:spPr>
          <a:xfrm>
            <a:off x="1015927" y="1897360"/>
            <a:ext cx="1650927" cy="1650927"/>
          </a:xfrm>
          <a:prstGeom prst="roundRect">
            <a:avLst>
              <a:gd name="adj" fmla="val 4616"/>
            </a:avLst>
          </a:prstGeom>
        </p:spPr>
      </p:pic>
      <p:sp>
        <p:nvSpPr>
          <p:cNvPr id="6" name="Text 3"/>
          <p:cNvSpPr/>
          <p:nvPr/>
        </p:nvSpPr>
        <p:spPr>
          <a:xfrm>
            <a:off x="2869995" y="1892071"/>
            <a:ext cx="8555187"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Xu game – nền đen, ảnh xám</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879402" y="2208758"/>
          <a:ext cx="8296600" cy="1068035"/>
        </p:xfrm>
        <a:graphic>
          <a:graphicData uri="http://schemas.openxmlformats.org/drawingml/2006/table">
            <a:tbl>
              <a:tblPr/>
              <a:tblGrid>
                <a:gridCol w="1825252"/>
                <a:gridCol w="1493388"/>
                <a:gridCol w="1659320"/>
                <a:gridCol w="1659320"/>
                <a:gridCol w="1659320"/>
              </a:tblGrid>
              <a:tr h="356012">
                <a:tc>
                  <a:txBody>
                    <a:bodyPr/>
                    <a:lstStyle/>
                    <a:p>
                      <a:pPr indent="0" marL="0">
                        <a:lnSpc>
                          <a:spcPts val="1820"/>
                        </a:lnSpc>
                        <a:buNone/>
                      </a:pP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Cách A</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Cách 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Chuẩn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Sai số (B)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6012">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Đường kính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25,36 mm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25,40 mm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25,00 mm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+1,6%</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012">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Diện tích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505,0 mm²</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506,6 mm²</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490,9 mm²</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+3,2%</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4"/>
          <p:cNvSpPr/>
          <p:nvPr/>
        </p:nvSpPr>
        <p:spPr>
          <a:xfrm>
            <a:off x="2869995" y="3340224"/>
            <a:ext cx="855518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A − B = −0,33% · độ lệch còn lại 1,94 px · k = 0,04587 mm/px · vật lạ bị loại</a:t>
            </a:r>
            <a:endParaRPr lang="en-US" sz="1200" dirty="0"/>
          </a:p>
        </p:txBody>
      </p:sp>
      <p:sp>
        <p:nvSpPr>
          <p:cNvPr id="9" name="Shape 5"/>
          <p:cNvSpPr/>
          <p:nvPr/>
        </p:nvSpPr>
        <p:spPr>
          <a:xfrm>
            <a:off x="812785" y="3858289"/>
            <a:ext cx="10566357" cy="1966222"/>
          </a:xfrm>
          <a:prstGeom prst="roundRect">
            <a:avLst>
              <a:gd name="adj" fmla="val 5167"/>
            </a:avLst>
          </a:prstGeom>
          <a:solidFill>
            <a:srgbClr val="FFFFFF"/>
          </a:solidFill>
          <a:ln/>
        </p:spPr>
      </p:sp>
      <p:pic>
        <p:nvPicPr>
          <p:cNvPr id="10" name="Image 1" descr="Nắp chai trên kênh bão hòa màu, đường tròn khớp ôm sát mép, bóng đổ mờ bên trái">    </p:cNvPr>
          <p:cNvPicPr>
            <a:picLocks noChangeAspect="1"/>
          </p:cNvPicPr>
          <p:nvPr/>
        </p:nvPicPr>
        <p:blipFill>
          <a:blip r:embed="rId2"/>
          <a:srcRect l="25448" r="25448" t="0" b="0"/>
          <a:stretch/>
        </p:blipFill>
        <p:spPr>
          <a:xfrm>
            <a:off x="1015927" y="4015935"/>
            <a:ext cx="1650927" cy="1650927"/>
          </a:xfrm>
          <a:prstGeom prst="roundRect">
            <a:avLst>
              <a:gd name="adj" fmla="val 4616"/>
            </a:avLst>
          </a:prstGeom>
        </p:spPr>
      </p:pic>
      <p:sp>
        <p:nvSpPr>
          <p:cNvPr id="11" name="Text 6"/>
          <p:cNvSpPr/>
          <p:nvPr/>
        </p:nvSpPr>
        <p:spPr>
          <a:xfrm>
            <a:off x="2869995" y="4010645"/>
            <a:ext cx="8555187"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Nắp chai xanh – kênh bão hòa màu S</a:t>
            </a:r>
            <a:endParaRPr lang="en-US" sz="1600" dirty="0"/>
          </a:p>
        </p:txBody>
      </p:sp>
      <p:graphicFrame>
        <p:nvGraphicFramePr>
          <p:cNvPr id="12" name="Table 1"/>
          <p:cNvGraphicFramePr>
            <a:graphicFrameLocks noGrp="1"/>
          </p:cNvGraphicFramePr>
          <p:nvPr>
            <p:extLst>
              <p:ext uri="{D42A27DB-BD31-4B8C-83A1-F6EECF244321}">
                <p14:modId xmlns:p14="http://schemas.microsoft.com/office/powerpoint/2010/main" val="1579011935"/>
              </p:ext>
            </p:extLst>
          </p:nvPr>
        </p:nvGraphicFramePr>
        <p:xfrm>
          <a:off x="2879402" y="4327339"/>
          <a:ext cx="8296600" cy="1068035"/>
        </p:xfrm>
        <a:graphic>
          <a:graphicData uri="http://schemas.openxmlformats.org/drawingml/2006/table">
            <a:tbl>
              <a:tblPr/>
              <a:tblGrid>
                <a:gridCol w="1825252"/>
                <a:gridCol w="1493388"/>
                <a:gridCol w="1659320"/>
                <a:gridCol w="1659320"/>
                <a:gridCol w="1659320"/>
              </a:tblGrid>
              <a:tr h="356012">
                <a:tc>
                  <a:txBody>
                    <a:bodyPr/>
                    <a:lstStyle/>
                    <a:p>
                      <a:pPr indent="0" marL="0">
                        <a:lnSpc>
                          <a:spcPts val="1820"/>
                        </a:lnSpc>
                        <a:buNone/>
                      </a:pP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Cách A</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Cách 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Chuẩn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Sai số (B)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6012">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Đường kính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29,71 mm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29,67 mm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[đo lại]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012">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Diện tích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693,3 mm²</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691,3 mm²</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3" name="Text 7"/>
          <p:cNvSpPr/>
          <p:nvPr/>
        </p:nvSpPr>
        <p:spPr>
          <a:xfrm>
            <a:off x="2869995" y="5458799"/>
            <a:ext cx="855518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A − B = +0,28% · độ lệch còn lại 1,35 px · ảnh xám thất bại (nắp 141, giấy 139)</a:t>
            </a:r>
            <a:endParaRPr lang="en-US" sz="1200" dirty="0"/>
          </a:p>
        </p:txBody>
      </p:sp>
      <p:sp>
        <p:nvSpPr>
          <p:cNvPr id="14" name="Text 8"/>
          <p:cNvSpPr/>
          <p:nvPr/>
        </p:nvSpPr>
        <p:spPr>
          <a:xfrm>
            <a:off x="812785" y="623821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13 · Chuẩn xu game: 25 mm theo nhà bán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5" y="812781"/>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BƯỚC 5 · KIỂM CHỨNG VÀ SAI SỐ</a:t>
            </a:r>
            <a:endParaRPr lang="en-US" sz="1200" dirty="0"/>
          </a:p>
        </p:txBody>
      </p:sp>
      <p:sp>
        <p:nvSpPr>
          <p:cNvPr id="3" name="Text 1"/>
          <p:cNvSpPr/>
          <p:nvPr>
            <p:ph type="title"/>
          </p:nvPr>
        </p:nvSpPr>
        <p:spPr>
          <a:xfrm>
            <a:off x="812785" y="1178496"/>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Kích thước sai x% thì diện tích sai khoảng 2x%</a:t>
            </a:r>
            <a:endParaRPr lang="en-US" sz="2800" dirty="0"/>
          </a:p>
        </p:txBody>
      </p:sp>
      <p:sp>
        <p:nvSpPr>
          <p:cNvPr id="4" name="Shape 2"/>
          <p:cNvSpPr/>
          <p:nvPr/>
        </p:nvSpPr>
        <p:spPr>
          <a:xfrm>
            <a:off x="815960" y="1742883"/>
            <a:ext cx="3079795" cy="818268"/>
          </a:xfrm>
          <a:prstGeom prst="roundRect">
            <a:avLst>
              <a:gd name="adj" fmla="val 8924"/>
            </a:avLst>
          </a:prstGeom>
          <a:solidFill>
            <a:srgbClr val="FFFFFF"/>
          </a:solidFill>
          <a:ln w="6350">
            <a:solidFill>
              <a:srgbClr val="E2E4E8"/>
            </a:solidFill>
            <a:prstDash val="solid"/>
          </a:ln>
        </p:spPr>
      </p:sp>
      <p:sp>
        <p:nvSpPr>
          <p:cNvPr id="5" name="Text 3"/>
          <p:cNvSpPr/>
          <p:nvPr/>
        </p:nvSpPr>
        <p:spPr>
          <a:xfrm>
            <a:off x="995274" y="1884052"/>
            <a:ext cx="2802801"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Δ = (S_A − S_B) / S_B</a:t>
            </a:r>
            <a:endParaRPr lang="en-US" sz="1600" dirty="0"/>
          </a:p>
        </p:txBody>
      </p:sp>
      <p:sp>
        <p:nvSpPr>
          <p:cNvPr id="6" name="Text 4"/>
          <p:cNvSpPr/>
          <p:nvPr/>
        </p:nvSpPr>
        <p:spPr>
          <a:xfrm>
            <a:off x="995274" y="2206625"/>
            <a:ext cx="2802801"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Kiểm tra chéo hai cách</a:t>
            </a:r>
            <a:endParaRPr lang="en-US" sz="1200" dirty="0"/>
          </a:p>
        </p:txBody>
      </p:sp>
      <p:sp>
        <p:nvSpPr>
          <p:cNvPr id="7" name="Shape 5"/>
          <p:cNvSpPr/>
          <p:nvPr/>
        </p:nvSpPr>
        <p:spPr>
          <a:xfrm>
            <a:off x="4054461" y="1742883"/>
            <a:ext cx="3079795" cy="818268"/>
          </a:xfrm>
          <a:prstGeom prst="roundRect">
            <a:avLst>
              <a:gd name="adj" fmla="val 8924"/>
            </a:avLst>
          </a:prstGeom>
          <a:solidFill>
            <a:srgbClr val="FFFFFF"/>
          </a:solidFill>
          <a:ln w="6350">
            <a:solidFill>
              <a:srgbClr val="E2E4E8"/>
            </a:solidFill>
            <a:prstDash val="solid"/>
          </a:ln>
        </p:spPr>
      </p:sp>
      <p:sp>
        <p:nvSpPr>
          <p:cNvPr id="8" name="Text 6"/>
          <p:cNvSpPr/>
          <p:nvPr/>
        </p:nvSpPr>
        <p:spPr>
          <a:xfrm>
            <a:off x="4233775" y="1884052"/>
            <a:ext cx="2802801"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Noto Serif" pitchFamily="18" charset="0"/>
                <a:ea typeface="Noto Serif" pitchFamily="18" charset="-122"/>
                <a:cs typeface="Noto Serif" pitchFamily="18" charset="-120"/>
              </a:rPr>
              <a:t>ΔS / S ≈ 2 × Δd / d</a:t>
            </a:r>
            <a:endParaRPr lang="en-US" sz="1600" dirty="0"/>
          </a:p>
        </p:txBody>
      </p:sp>
      <p:sp>
        <p:nvSpPr>
          <p:cNvPr id="9" name="Text 7"/>
          <p:cNvSpPr/>
          <p:nvPr/>
        </p:nvSpPr>
        <p:spPr>
          <a:xfrm>
            <a:off x="4233775" y="2206625"/>
            <a:ext cx="2802801"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Vì S tỉ lệ với d²</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193" y="2726091"/>
          <a:ext cx="6315238" cy="2117255"/>
        </p:xfrm>
        <a:graphic>
          <a:graphicData uri="http://schemas.openxmlformats.org/drawingml/2006/table">
            <a:tbl>
              <a:tblPr/>
              <a:tblGrid>
                <a:gridCol w="3031314"/>
                <a:gridCol w="1894571"/>
                <a:gridCol w="1389352"/>
              </a:tblGrid>
              <a:tr h="356012">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Nguồn sai số</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Kích thước sai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Diện tích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587081">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Viền theo pixel nguyên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±0,5 / 138 px = 0,36%</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 0,7%</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587081">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Hiệu chuẩn bằng thước, ảnh nghiêng</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ABCB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ABCB1"/>
                      </a:solidFill>
                      <a:prstDash val="solid"/>
                      <a:round/>
                      <a:headEnd type="none" w="med" len="med"/>
                      <a:tailEnd type="none" w="med" len="med"/>
                    </a:lnB>
                    <a:solidFill>
                      <a:srgbClr val="FDEBDD"/>
                    </a:solidFill>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2,8%</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ABCB1"/>
                      </a:solidFill>
                      <a:prstDash val="solid"/>
                      <a:round/>
                      <a:headEnd type="none" w="med" len="med"/>
                      <a:tailEnd type="none" w="med" len="med"/>
                    </a:lnL>
                    <a:lnR w="12700" cap="flat" cmpd="sng" algn="ctr">
                      <a:solidFill>
                        <a:srgbClr val="CABCB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ABCB1"/>
                      </a:solidFill>
                      <a:prstDash val="solid"/>
                      <a:round/>
                      <a:headEnd type="none" w="med" len="med"/>
                      <a:tailEnd type="none" w="med" len="med"/>
                    </a:lnB>
                    <a:solidFill>
                      <a:srgbClr val="FDEBDD"/>
                    </a:solidFill>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 5,6% (lớn nhất)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ABCB1"/>
                      </a:solidFill>
                      <a:prstDash val="solid"/>
                      <a:round/>
                      <a:headEnd type="none" w="med" len="med"/>
                      <a:tailEnd type="none" w="med" len="med"/>
                    </a:lnL>
                    <a:lnR w="12700" cap="flat" cmpd="sng" algn="ctr">
                      <a:solidFill>
                        <a:srgbClr val="CABCB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ABCB1"/>
                      </a:solidFill>
                      <a:prstDash val="solid"/>
                      <a:round/>
                      <a:headEnd type="none" w="med" len="med"/>
                      <a:tailEnd type="none" w="med" len="med"/>
                    </a:lnB>
                    <a:solidFill>
                      <a:srgbClr val="FDEBDD"/>
                    </a:solidFill>
                  </a:tcPr>
                </a:tc>
              </a:tr>
              <a:tr h="587081">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Không kê bàn cờ bằng mặt đồng xu</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ABCB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0,7%</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ABCB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 1,3%</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ABCB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11" name="Text 8"/>
          <p:cNvSpPr/>
          <p:nvPr/>
        </p:nvSpPr>
        <p:spPr>
          <a:xfrm>
            <a:off x="812785" y="4995701"/>
            <a:ext cx="6514384"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Sai số lớn nhất đến từ </a:t>
            </a:r>
            <a:r>
              <a:rPr lang="en-US" sz="1300" b="1" dirty="0">
                <a:solidFill>
                  <a:srgbClr val="14213D"/>
                </a:solidFill>
                <a:latin typeface="Be Vietnam Pro" pitchFamily="34" charset="0"/>
                <a:ea typeface="Be Vietnam Pro" pitchFamily="34" charset="-122"/>
                <a:cs typeface="Be Vietnam Pro" pitchFamily="34" charset="-120"/>
              </a:rPr>
              <a:t>hiệu chuẩn</a:t>
            </a:r>
            <a:r>
              <a:rPr lang="en-US" sz="1300" dirty="0">
                <a:solidFill>
                  <a:srgbClr val="4A5568"/>
                </a:solidFill>
                <a:latin typeface="Be Vietnam Pro" pitchFamily="34" charset="0"/>
                <a:ea typeface="Be Vietnam Pro" pitchFamily="34" charset="-122"/>
                <a:cs typeface="Be Vietnam Pro" pitchFamily="34" charset="-120"/>
              </a:rPr>
              <a:t>, không phải thuật toán → dùng bàn cờ, kê cao bằng mặt vật.</a:t>
            </a:r>
            <a:endParaRPr lang="en-US" sz="1300" dirty="0"/>
          </a:p>
        </p:txBody>
      </p:sp>
      <p:sp>
        <p:nvSpPr>
          <p:cNvPr id="12" name="Shape 9"/>
          <p:cNvSpPr/>
          <p:nvPr/>
        </p:nvSpPr>
        <p:spPr>
          <a:xfrm>
            <a:off x="7442216" y="1739708"/>
            <a:ext cx="3936927" cy="2362141"/>
          </a:xfrm>
          <a:prstGeom prst="roundRect">
            <a:avLst>
              <a:gd name="adj" fmla="val 3226"/>
            </a:avLst>
          </a:prstGeom>
          <a:solidFill>
            <a:srgbClr val="FFFFFF"/>
          </a:solidFill>
          <a:ln/>
        </p:spPr>
      </p:sp>
      <p:pic>
        <p:nvPicPr>
          <p:cNvPr id="13" name="Image 0" descr="Biểu đồ: sai số diện tích tăng gần tuyến tính theo độ chênh cao giữa mặt vật và mặt bàn cờ, khoảng 1,3% mỗi mm khi camera cách 150 mm">    </p:cNvPr>
          <p:cNvPicPr>
            <a:picLocks noChangeAspect="1"/>
          </p:cNvPicPr>
          <p:nvPr/>
        </p:nvPicPr>
        <p:blipFill>
          <a:blip r:embed="rId1"/>
          <a:srcRect l="0" r="0" t="-45" b="-45"/>
          <a:stretch/>
        </p:blipFill>
        <p:spPr>
          <a:xfrm>
            <a:off x="7442216" y="1739708"/>
            <a:ext cx="3936927" cy="2362141"/>
          </a:xfrm>
          <a:prstGeom prst="roundRect">
            <a:avLst>
              <a:gd name="adj" fmla="val 3226"/>
            </a:avLst>
          </a:prstGeom>
        </p:spPr>
      </p:pic>
      <p:sp>
        <p:nvSpPr>
          <p:cNvPr id="14" name="Text 10"/>
          <p:cNvSpPr/>
          <p:nvPr/>
        </p:nvSpPr>
        <p:spPr>
          <a:xfrm>
            <a:off x="7442216" y="4177990"/>
            <a:ext cx="4055035"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Be Vietnam Pro" pitchFamily="34" charset="0"/>
                <a:ea typeface="Be Vietnam Pro" pitchFamily="34" charset="-122"/>
                <a:cs typeface="Be Vietnam Pro" pitchFamily="34" charset="-120"/>
              </a:rPr>
              <a:t>Mặt vật cao hơn bàn cờ 1 mm → diện tích dư ≈ 1,3% (camera cách 150 mm)</a:t>
            </a:r>
            <a:endParaRPr lang="en-US" sz="1200" dirty="0"/>
          </a:p>
        </p:txBody>
      </p:sp>
      <p:sp>
        <p:nvSpPr>
          <p:cNvPr id="15" name="Text 11"/>
          <p:cNvSpPr/>
          <p:nvPr/>
        </p:nvSpPr>
        <p:spPr>
          <a:xfrm>
            <a:off x="812785" y="6238211"/>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THỬ NGHIỆM THỰC TẾ · VÌ SAO CÒN SAI SỐ</a:t>
            </a:r>
            <a:endParaRPr lang="en-US" sz="1200" dirty="0"/>
          </a:p>
        </p:txBody>
      </p:sp>
      <p:sp>
        <p:nvSpPr>
          <p:cNvPr id="3" name="Text 1"/>
          <p:cNvSpPr/>
          <p:nvPr>
            <p:ph type="title"/>
          </p:nvPr>
        </p:nvSpPr>
        <p:spPr>
          <a:xfrm>
            <a:off x="812785" y="1178502"/>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Sai số đến từ độ cao bàn cờ</a:t>
            </a:r>
            <a:endParaRPr lang="en-US" sz="2800" dirty="0"/>
          </a:p>
        </p:txBody>
      </p:sp>
      <p:sp>
        <p:nvSpPr>
          <p:cNvPr id="4" name="Shape 2"/>
          <p:cNvSpPr/>
          <p:nvPr/>
        </p:nvSpPr>
        <p:spPr>
          <a:xfrm>
            <a:off x="812785" y="1739708"/>
            <a:ext cx="4063927" cy="2692356"/>
          </a:xfrm>
          <a:prstGeom prst="roundRect">
            <a:avLst>
              <a:gd name="adj" fmla="val 2830"/>
            </a:avLst>
          </a:prstGeom>
          <a:solidFill>
            <a:srgbClr val="FFFFFF"/>
          </a:solidFill>
          <a:ln/>
        </p:spPr>
      </p:sp>
      <p:pic>
        <p:nvPicPr>
          <p:cNvPr id="5" name="Image 0" descr="Biểu đồ cột: sai số đường kính qua 3 lần kê bàn cờ: +2,8%, −2,0%, +1,6%">    </p:cNvPr>
          <p:cNvPicPr>
            <a:picLocks noChangeAspect="1"/>
          </p:cNvPicPr>
          <p:nvPr/>
        </p:nvPicPr>
        <p:blipFill>
          <a:blip r:embed="rId1"/>
          <a:srcRect l="0" r="0" t="-108" b="-108"/>
          <a:stretch/>
        </p:blipFill>
        <p:spPr>
          <a:xfrm>
            <a:off x="812785" y="1739708"/>
            <a:ext cx="4063927" cy="2692356"/>
          </a:xfrm>
          <a:prstGeom prst="roundRect">
            <a:avLst>
              <a:gd name="adj" fmla="val 2830"/>
            </a:avLst>
          </a:prstGeom>
        </p:spPr>
      </p:pic>
      <p:sp>
        <p:nvSpPr>
          <p:cNvPr id="6" name="Shape 3"/>
          <p:cNvSpPr/>
          <p:nvPr/>
        </p:nvSpPr>
        <p:spPr>
          <a:xfrm>
            <a:off x="812785" y="4508209"/>
            <a:ext cx="4402447" cy="832997"/>
          </a:xfrm>
          <a:prstGeom prst="roundRect">
            <a:avLst>
              <a:gd name="adj" fmla="val 9148"/>
            </a:avLst>
          </a:prstGeom>
          <a:solidFill>
            <a:srgbClr val="14213D"/>
          </a:solidFill>
          <a:ln/>
        </p:spPr>
      </p:sp>
      <p:sp>
        <p:nvSpPr>
          <p:cNvPr id="7" name="Text 4"/>
          <p:cNvSpPr/>
          <p:nvPr/>
        </p:nvSpPr>
        <p:spPr>
          <a:xfrm>
            <a:off x="990571" y="4647847"/>
            <a:ext cx="4168283" cy="327686"/>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7F6F2"/>
                </a:solidFill>
                <a:latin typeface="Noto Serif" pitchFamily="18" charset="0"/>
                <a:ea typeface="Noto Serif" pitchFamily="18" charset="-122"/>
                <a:cs typeface="Noto Serif" pitchFamily="18" charset="-120"/>
              </a:rPr>
              <a:t>Δd / d ≈ Δh / Z</a:t>
            </a:r>
            <a:endParaRPr lang="en-US" sz="1700" dirty="0"/>
          </a:p>
        </p:txBody>
      </p:sp>
      <p:sp>
        <p:nvSpPr>
          <p:cNvPr id="8" name="Text 5"/>
          <p:cNvSpPr/>
          <p:nvPr/>
        </p:nvSpPr>
        <p:spPr>
          <a:xfrm>
            <a:off x="990571" y="4988204"/>
            <a:ext cx="4224661"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E"/>
                </a:solidFill>
                <a:latin typeface="Be Vietnam Pro" pitchFamily="34" charset="0"/>
                <a:ea typeface="Be Vietnam Pro" pitchFamily="34" charset="-122"/>
                <a:cs typeface="Be Vietnam Pro" pitchFamily="34" charset="-120"/>
              </a:rPr>
              <a:t>Z ≈ 14 cm: lệch 1 mm độ cao → d sai ≈ 0,7%, S sai ≈ 1,4%</a:t>
            </a:r>
            <a:endParaRPr lang="en-US" sz="1200" dirty="0"/>
          </a:p>
        </p:txBody>
      </p:sp>
      <p:sp>
        <p:nvSpPr>
          <p:cNvPr id="9" name="Shape 6"/>
          <p:cNvSpPr/>
          <p:nvPr/>
        </p:nvSpPr>
        <p:spPr>
          <a:xfrm>
            <a:off x="5523192" y="1742883"/>
            <a:ext cx="5852775" cy="906977"/>
          </a:xfrm>
          <a:prstGeom prst="roundRect">
            <a:avLst>
              <a:gd name="adj" fmla="val 8051"/>
            </a:avLst>
          </a:prstGeom>
          <a:solidFill>
            <a:srgbClr val="FFFFFF"/>
          </a:solidFill>
          <a:ln w="6350">
            <a:solidFill>
              <a:srgbClr val="E2E4E8"/>
            </a:solidFill>
            <a:prstDash val="solid"/>
          </a:ln>
        </p:spPr>
      </p:sp>
      <p:sp>
        <p:nvSpPr>
          <p:cNvPr id="10" name="Text 7"/>
          <p:cNvSpPr/>
          <p:nvPr/>
        </p:nvSpPr>
        <p:spPr>
          <a:xfrm>
            <a:off x="5677077" y="1871340"/>
            <a:ext cx="5711356"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Kê bàn cờ bằng chồng giấy</a:t>
            </a:r>
            <a:endParaRPr lang="en-US" sz="1400" dirty="0"/>
          </a:p>
        </p:txBody>
      </p:sp>
      <p:sp>
        <p:nvSpPr>
          <p:cNvPr id="11" name="Text 8"/>
          <p:cNvSpPr/>
          <p:nvPr/>
        </p:nvSpPr>
        <p:spPr>
          <a:xfrm>
            <a:off x="5677077" y="2109980"/>
            <a:ext cx="5711356"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Khó chỉnh chính xác dưới 1 mm; kê thiếu thì dư, kê thừa thì thiếu (+2,8% → −2,0% → +1,6%)</a:t>
            </a:r>
            <a:endParaRPr lang="en-US" sz="1200" dirty="0"/>
          </a:p>
        </p:txBody>
      </p:sp>
      <p:sp>
        <p:nvSpPr>
          <p:cNvPr id="12" name="Shape 9"/>
          <p:cNvSpPr/>
          <p:nvPr/>
        </p:nvSpPr>
        <p:spPr>
          <a:xfrm>
            <a:off x="5523192" y="2757785"/>
            <a:ext cx="5852775" cy="906977"/>
          </a:xfrm>
          <a:prstGeom prst="roundRect">
            <a:avLst>
              <a:gd name="adj" fmla="val 8051"/>
            </a:avLst>
          </a:prstGeom>
          <a:solidFill>
            <a:srgbClr val="FFFFFF"/>
          </a:solidFill>
          <a:ln w="6350">
            <a:solidFill>
              <a:srgbClr val="E2E4E8"/>
            </a:solidFill>
            <a:prstDash val="solid"/>
          </a:ln>
        </p:spPr>
      </p:sp>
      <p:sp>
        <p:nvSpPr>
          <p:cNvPr id="13" name="Text 10"/>
          <p:cNvSpPr/>
          <p:nvPr/>
        </p:nvSpPr>
        <p:spPr>
          <a:xfrm>
            <a:off x="5677077" y="2886236"/>
            <a:ext cx="5711356"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Nền vải mềm, giấy cong</a:t>
            </a:r>
            <a:endParaRPr lang="en-US" sz="1400" dirty="0"/>
          </a:p>
        </p:txBody>
      </p:sp>
      <p:sp>
        <p:nvSpPr>
          <p:cNvPr id="14" name="Text 11"/>
          <p:cNvSpPr/>
          <p:nvPr/>
        </p:nvSpPr>
        <p:spPr>
          <a:xfrm>
            <a:off x="5677077" y="3124876"/>
            <a:ext cx="5711356"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Xu lún vào vải mỗi lần một khác: cùng hiệu chuẩn, đường kính trên ảnh đổi 1,1%</a:t>
            </a:r>
            <a:endParaRPr lang="en-US" sz="1200" dirty="0"/>
          </a:p>
        </p:txBody>
      </p:sp>
      <p:sp>
        <p:nvSpPr>
          <p:cNvPr id="15" name="Shape 12"/>
          <p:cNvSpPr/>
          <p:nvPr/>
        </p:nvSpPr>
        <p:spPr>
          <a:xfrm>
            <a:off x="5523192" y="3772681"/>
            <a:ext cx="5852775" cy="701263"/>
          </a:xfrm>
          <a:prstGeom prst="roundRect">
            <a:avLst>
              <a:gd name="adj" fmla="val 10413"/>
            </a:avLst>
          </a:prstGeom>
          <a:solidFill>
            <a:srgbClr val="FFFFFF"/>
          </a:solidFill>
          <a:ln w="6350">
            <a:solidFill>
              <a:srgbClr val="E2E4E8"/>
            </a:solidFill>
            <a:prstDash val="solid"/>
          </a:ln>
        </p:spPr>
      </p:sp>
      <p:sp>
        <p:nvSpPr>
          <p:cNvPr id="16" name="Text 13"/>
          <p:cNvSpPr/>
          <p:nvPr/>
        </p:nvSpPr>
        <p:spPr>
          <a:xfrm>
            <a:off x="5677077" y="3901132"/>
            <a:ext cx="5711356"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Be Vietnam Pro" pitchFamily="34" charset="0"/>
                <a:ea typeface="Be Vietnam Pro" pitchFamily="34" charset="-122"/>
                <a:cs typeface="Be Vietnam Pro" pitchFamily="34" charset="-120"/>
              </a:rPr>
              <a:t>Camera hơi nghiêng, giá trị chuẩn danh nghĩa</a:t>
            </a:r>
            <a:endParaRPr lang="en-US" sz="1400" dirty="0"/>
          </a:p>
        </p:txBody>
      </p:sp>
      <p:sp>
        <p:nvSpPr>
          <p:cNvPr id="17" name="Text 14"/>
          <p:cNvSpPr/>
          <p:nvPr/>
        </p:nvSpPr>
        <p:spPr>
          <a:xfrm>
            <a:off x="5677077" y="4139772"/>
            <a:ext cx="5711356"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Ô bàn cờ chênh 3,7%; </a:t>
            </a:r>
            <a:endParaRPr lang="en-US" sz="1200" dirty="0"/>
          </a:p>
        </p:txBody>
      </p:sp>
      <p:sp>
        <p:nvSpPr>
          <p:cNvPr id="18" name="Shape 15"/>
          <p:cNvSpPr/>
          <p:nvPr/>
        </p:nvSpPr>
        <p:spPr>
          <a:xfrm>
            <a:off x="5520017" y="4578691"/>
            <a:ext cx="5859125" cy="903920"/>
          </a:xfrm>
          <a:prstGeom prst="roundRect">
            <a:avLst>
              <a:gd name="adj" fmla="val 8430"/>
            </a:avLst>
          </a:prstGeom>
          <a:solidFill>
            <a:srgbClr val="FFFFFF"/>
          </a:solidFill>
          <a:ln/>
        </p:spPr>
      </p:sp>
      <p:sp>
        <p:nvSpPr>
          <p:cNvPr id="19" name="Shape 16"/>
          <p:cNvSpPr/>
          <p:nvPr/>
        </p:nvSpPr>
        <p:spPr>
          <a:xfrm>
            <a:off x="5520017" y="4578691"/>
            <a:ext cx="5859125" cy="903920"/>
          </a:xfrm>
          <a:custGeom>
            <a:avLst/>
            <a:gdLst/>
            <a:ahLst/>
            <a:cxnLst/>
            <a:rect l="l" t="t" r="r" b="b"/>
            <a:pathLst>
              <a:path w="5859125" h="903920">
                <a:moveTo>
                  <a:pt x="76200" y="903920"/>
                </a:moveTo>
                <a:lnTo>
                  <a:pt x="76200" y="903920"/>
                </a:lnTo>
                <a:arcTo hR="76200" wR="76200" stAng="5400000" swAng="5400000"/>
                <a:lnTo>
                  <a:pt x="0" y="76200"/>
                </a:lnTo>
                <a:arcTo hR="76200" wR="76200" stAng="10800000" swAng="5400000"/>
                <a:lnTo>
                  <a:pt x="76200" y="0"/>
                </a:lnTo>
                <a:arcTo hR="76200" wR="38100" stAng="16200000" swAng="-5400000"/>
                <a:lnTo>
                  <a:pt x="38100" y="827720"/>
                </a:lnTo>
                <a:arcTo hR="76200" wR="38100" stAng="10800000" swAng="-5400000"/>
                <a:close/>
              </a:path>
            </a:pathLst>
          </a:custGeom>
          <a:solidFill>
            <a:srgbClr val="0F766E"/>
          </a:solidFill>
          <a:ln/>
        </p:spPr>
      </p:sp>
      <p:sp>
        <p:nvSpPr>
          <p:cNvPr id="20" name="Text 17"/>
          <p:cNvSpPr/>
          <p:nvPr/>
        </p:nvSpPr>
        <p:spPr>
          <a:xfrm>
            <a:off x="5710003" y="4705617"/>
            <a:ext cx="5682287"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766E"/>
                </a:solidFill>
                <a:latin typeface="Be Vietnam Pro" pitchFamily="34" charset="0"/>
                <a:ea typeface="Be Vietnam Pro" pitchFamily="34" charset="-122"/>
                <a:cs typeface="Be Vietnam Pro" pitchFamily="34" charset="-120"/>
              </a:rPr>
              <a:t>Cải tiến</a:t>
            </a:r>
            <a:endParaRPr lang="en-US" sz="1400" dirty="0"/>
          </a:p>
        </p:txBody>
      </p:sp>
      <p:sp>
        <p:nvSpPr>
          <p:cNvPr id="21" name="Text 18"/>
          <p:cNvSpPr/>
          <p:nvPr/>
        </p:nvSpPr>
        <p:spPr>
          <a:xfrm>
            <a:off x="5710003" y="4944256"/>
            <a:ext cx="568228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Kê bàn cờ bằng 4 xu cùng loại trên mặt bàn cứng; đặt camera cao hơn và dùng zoom để giảm độ nhạy</a:t>
            </a:r>
            <a:endParaRPr lang="en-US" sz="1200" dirty="0"/>
          </a:p>
        </p:txBody>
      </p:sp>
      <p:sp>
        <p:nvSpPr>
          <p:cNvPr id="22" name="Text 19"/>
          <p:cNvSpPr/>
          <p:nvPr/>
        </p:nvSpPr>
        <p:spPr>
          <a:xfrm>
            <a:off x="812785" y="623821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15 · Thuật toán: độ lệch còn lại ≤ 2 px (≈ 0,09 mm), A − B dưới 0,5%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HƯỚNG PHÁT TRIỂN</a:t>
            </a:r>
            <a:endParaRPr lang="en-US" sz="1200" dirty="0"/>
          </a:p>
        </p:txBody>
      </p:sp>
      <p:sp>
        <p:nvSpPr>
          <p:cNvPr id="3" name="Text 1"/>
          <p:cNvSpPr/>
          <p:nvPr>
            <p:ph type="title"/>
          </p:nvPr>
        </p:nvSpPr>
        <p:spPr>
          <a:xfrm>
            <a:off x="812785" y="1178496"/>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Hiệu chuẩn ống kính để đo vật ở mọi vị trí</a:t>
            </a:r>
            <a:endParaRPr lang="en-US" sz="2800" dirty="0"/>
          </a:p>
        </p:txBody>
      </p:sp>
      <p:sp>
        <p:nvSpPr>
          <p:cNvPr id="4" name="Shape 2"/>
          <p:cNvSpPr/>
          <p:nvPr/>
        </p:nvSpPr>
        <p:spPr>
          <a:xfrm>
            <a:off x="815960" y="1742889"/>
            <a:ext cx="3414199" cy="1463190"/>
          </a:xfrm>
          <a:prstGeom prst="roundRect">
            <a:avLst>
              <a:gd name="adj" fmla="val 4991"/>
            </a:avLst>
          </a:prstGeom>
          <a:solidFill>
            <a:srgbClr val="FFFFFF"/>
          </a:solidFill>
          <a:ln w="6350">
            <a:solidFill>
              <a:srgbClr val="E2E4E8"/>
            </a:solidFill>
            <a:prstDash val="solid"/>
          </a:ln>
        </p:spPr>
      </p:sp>
      <p:sp>
        <p:nvSpPr>
          <p:cNvPr id="5" name="Text 3"/>
          <p:cNvSpPr/>
          <p:nvPr/>
        </p:nvSpPr>
        <p:spPr>
          <a:xfrm>
            <a:off x="982560" y="1884052"/>
            <a:ext cx="3173430"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766E"/>
                </a:solidFill>
                <a:latin typeface="Be Vietnam Pro" pitchFamily="34" charset="0"/>
                <a:ea typeface="Be Vietnam Pro" pitchFamily="34" charset="-122"/>
                <a:cs typeface="Be Vietnam Pro" pitchFamily="34" charset="-120"/>
              </a:rPr>
              <a:t>① Hiệu chuẩn ống kính</a:t>
            </a:r>
            <a:endParaRPr lang="en-US" sz="1400" dirty="0"/>
          </a:p>
        </p:txBody>
      </p:sp>
      <p:sp>
        <p:nvSpPr>
          <p:cNvPr id="6" name="Text 4"/>
          <p:cNvSpPr/>
          <p:nvPr/>
        </p:nvSpPr>
        <p:spPr>
          <a:xfrm>
            <a:off x="982560" y="2148123"/>
            <a:ext cx="317343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15–20 ảnh bàn cờ ở nhiều vị trí, góc; tìm tiêu cự, tâm ảnh, hệ số méo</a:t>
            </a:r>
            <a:endParaRPr lang="en-US" sz="1200" dirty="0"/>
          </a:p>
        </p:txBody>
      </p:sp>
      <p:sp>
        <p:nvSpPr>
          <p:cNvPr id="7" name="Text 5"/>
          <p:cNvSpPr/>
          <p:nvPr/>
        </p:nvSpPr>
        <p:spPr>
          <a:xfrm>
            <a:off x="982560" y="2610334"/>
            <a:ext cx="3173430"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Noto Serif" pitchFamily="18" charset="0"/>
                <a:ea typeface="Noto Serif" pitchFamily="18" charset="-122"/>
                <a:cs typeface="Noto Serif" pitchFamily="18" charset="-120"/>
              </a:rPr>
              <a:t>x_méo = x(1 + k₁r² + k₂r⁴ + k₃r⁶)</a:t>
            </a:r>
            <a:endParaRPr lang="en-US" sz="1400" dirty="0"/>
          </a:p>
        </p:txBody>
      </p:sp>
      <p:sp>
        <p:nvSpPr>
          <p:cNvPr id="8" name="Shape 6"/>
          <p:cNvSpPr/>
          <p:nvPr/>
        </p:nvSpPr>
        <p:spPr>
          <a:xfrm>
            <a:off x="4388865" y="1742889"/>
            <a:ext cx="3414199" cy="1463190"/>
          </a:xfrm>
          <a:prstGeom prst="roundRect">
            <a:avLst>
              <a:gd name="adj" fmla="val 4991"/>
            </a:avLst>
          </a:prstGeom>
          <a:solidFill>
            <a:srgbClr val="FFFFFF"/>
          </a:solidFill>
          <a:ln w="6350">
            <a:solidFill>
              <a:srgbClr val="E2E4E8"/>
            </a:solidFill>
            <a:prstDash val="solid"/>
          </a:ln>
        </p:spPr>
      </p:sp>
      <p:sp>
        <p:nvSpPr>
          <p:cNvPr id="9" name="Text 7"/>
          <p:cNvSpPr/>
          <p:nvPr/>
        </p:nvSpPr>
        <p:spPr>
          <a:xfrm>
            <a:off x="4555464" y="1884052"/>
            <a:ext cx="3173430"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766E"/>
                </a:solidFill>
                <a:latin typeface="Be Vietnam Pro" pitchFamily="34" charset="0"/>
                <a:ea typeface="Be Vietnam Pro" pitchFamily="34" charset="-122"/>
                <a:cs typeface="Be Vietnam Pro" pitchFamily="34" charset="-120"/>
              </a:rPr>
              <a:t>② Sửa méo, tìm tư thế camera</a:t>
            </a:r>
            <a:endParaRPr lang="en-US" sz="1400" dirty="0"/>
          </a:p>
        </p:txBody>
      </p:sp>
      <p:sp>
        <p:nvSpPr>
          <p:cNvPr id="10" name="Text 8"/>
          <p:cNvSpPr/>
          <p:nvPr/>
        </p:nvSpPr>
        <p:spPr>
          <a:xfrm>
            <a:off x="4555464" y="2148123"/>
            <a:ext cx="317343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Khử méo cả khung hình; từ 1 ảnh bàn cờ tính khoảng cách Z và góc nghiêng</a:t>
            </a:r>
            <a:endParaRPr lang="en-US" sz="1200" dirty="0"/>
          </a:p>
        </p:txBody>
      </p:sp>
      <p:sp>
        <p:nvSpPr>
          <p:cNvPr id="11" name="Text 9"/>
          <p:cNvSpPr/>
          <p:nvPr/>
        </p:nvSpPr>
        <p:spPr>
          <a:xfrm>
            <a:off x="4555464" y="2610334"/>
            <a:ext cx="3173430"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Noto Serif" pitchFamily="18" charset="0"/>
                <a:ea typeface="Noto Serif" pitchFamily="18" charset="-122"/>
                <a:cs typeface="Noto Serif" pitchFamily="18" charset="-120"/>
              </a:rPr>
              <a:t>s·[u v 1]ᵀ = K·[R | t]·[X Y Z 1]ᵀ</a:t>
            </a:r>
            <a:endParaRPr lang="en-US" sz="1400" dirty="0"/>
          </a:p>
        </p:txBody>
      </p:sp>
      <p:sp>
        <p:nvSpPr>
          <p:cNvPr id="12" name="Shape 10"/>
          <p:cNvSpPr/>
          <p:nvPr/>
        </p:nvSpPr>
        <p:spPr>
          <a:xfrm>
            <a:off x="7961769" y="1742889"/>
            <a:ext cx="3414199" cy="1463190"/>
          </a:xfrm>
          <a:prstGeom prst="roundRect">
            <a:avLst>
              <a:gd name="adj" fmla="val 4991"/>
            </a:avLst>
          </a:prstGeom>
          <a:solidFill>
            <a:srgbClr val="FFFFFF"/>
          </a:solidFill>
          <a:ln w="6350">
            <a:solidFill>
              <a:srgbClr val="E2E4E8"/>
            </a:solidFill>
            <a:prstDash val="solid"/>
          </a:ln>
        </p:spPr>
      </p:sp>
      <p:sp>
        <p:nvSpPr>
          <p:cNvPr id="13" name="Text 11"/>
          <p:cNvSpPr/>
          <p:nvPr/>
        </p:nvSpPr>
        <p:spPr>
          <a:xfrm>
            <a:off x="8128368" y="1884052"/>
            <a:ext cx="3173430" cy="238684"/>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766E"/>
                </a:solidFill>
                <a:latin typeface="Be Vietnam Pro" pitchFamily="34" charset="0"/>
                <a:ea typeface="Be Vietnam Pro" pitchFamily="34" charset="-122"/>
                <a:cs typeface="Be Vietnam Pro" pitchFamily="34" charset="-120"/>
              </a:rPr>
              <a:t>③ Bù độ cao và thành bên</a:t>
            </a:r>
            <a:endParaRPr lang="en-US" sz="1400" dirty="0"/>
          </a:p>
        </p:txBody>
      </p:sp>
      <p:sp>
        <p:nvSpPr>
          <p:cNvPr id="14" name="Text 12"/>
          <p:cNvSpPr/>
          <p:nvPr/>
        </p:nvSpPr>
        <p:spPr>
          <a:xfrm>
            <a:off x="8128368" y="2148123"/>
            <a:ext cx="317343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Be Vietnam Pro" pitchFamily="34" charset="0"/>
                <a:ea typeface="Be Vietnam Pro" pitchFamily="34" charset="-122"/>
                <a:cs typeface="Be Vietnam Pro" pitchFamily="34" charset="-120"/>
              </a:rPr>
              <a:t>Tỉ lệ theo độ cao vật; tính phần thành bên lộ ra ở rìa ảnh để lấy đúng mép mặt trên</a:t>
            </a:r>
            <a:endParaRPr lang="en-US" sz="1200" dirty="0"/>
          </a:p>
        </p:txBody>
      </p:sp>
      <p:sp>
        <p:nvSpPr>
          <p:cNvPr id="15" name="Text 13"/>
          <p:cNvSpPr/>
          <p:nvPr/>
        </p:nvSpPr>
        <p:spPr>
          <a:xfrm>
            <a:off x="8128368" y="2816051"/>
            <a:ext cx="3173430"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Noto Serif" pitchFamily="18" charset="0"/>
                <a:ea typeface="Noto Serif" pitchFamily="18" charset="-122"/>
                <a:cs typeface="Noto Serif" pitchFamily="18" charset="-120"/>
              </a:rPr>
              <a:t>k(h) = k₀·(Z − h)/Z, Δ ≈ t·x/Z</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193" y="3371013"/>
          <a:ext cx="10556950" cy="1068035"/>
        </p:xfrm>
        <a:graphic>
          <a:graphicData uri="http://schemas.openxmlformats.org/drawingml/2006/table">
            <a:tbl>
              <a:tblPr/>
              <a:tblGrid>
                <a:gridCol w="3167085"/>
                <a:gridCol w="2111390"/>
                <a:gridCol w="5278475"/>
              </a:tblGrid>
              <a:tr h="356012">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Hiệu chuẩn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Số ảnh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Khi nào làm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56012">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Ống kính (ong_kinh)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15–20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1 lần cho mỗi camera, mỗi mức zoom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012">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Hệ chụp (co_dinh)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1</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Mỗi lần dựng máy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17" name="Text 14"/>
          <p:cNvSpPr/>
          <p:nvPr/>
        </p:nvSpPr>
        <p:spPr>
          <a:xfrm>
            <a:off x="812785" y="4591410"/>
            <a:ext cx="10883348" cy="25646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766E"/>
                </a:solidFill>
                <a:latin typeface="Be Vietnam Pro" pitchFamily="34" charset="0"/>
                <a:ea typeface="Be Vietnam Pro" pitchFamily="34" charset="-122"/>
                <a:cs typeface="Be Vietnam Pro" pitchFamily="34" charset="-120"/>
              </a:rPr>
              <a:t>Mục tiêu:</a:t>
            </a:r>
            <a:r>
              <a:rPr lang="en-US" sz="1300" dirty="0">
                <a:solidFill>
                  <a:srgbClr val="0F766E"/>
                </a:solidFill>
                <a:latin typeface="Be Vietnam Pro" pitchFamily="34" charset="0"/>
                <a:ea typeface="Be Vietnam Pro" pitchFamily="34" charset="-122"/>
                <a:cs typeface="Be Vietnam Pro" pitchFamily="34" charset="-120"/>
              </a:rPr>
              <a:t> đo chính xác vật đặt ở bất kỳ vị trí nào trong khung hình, không phải kê bàn cờ lại theo từng vật.</a:t>
            </a:r>
            <a:endParaRPr lang="en-US" sz="1300" dirty="0"/>
          </a:p>
        </p:txBody>
      </p:sp>
      <p:sp>
        <p:nvSpPr>
          <p:cNvPr id="18" name="Text 15"/>
          <p:cNvSpPr/>
          <p:nvPr/>
        </p:nvSpPr>
        <p:spPr>
          <a:xfrm>
            <a:off x="812785" y="623821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1F4"/>
        </a:solidFill>
      </p:bgPr>
    </p:bg>
    <p:spTree>
      <p:nvGrpSpPr>
        <p:cNvPr id="1" name=""/>
        <p:cNvGrpSpPr/>
        <p:nvPr/>
      </p:nvGrpSpPr>
      <p:grpSpPr>
        <a:xfrm>
          <a:off x="0" y="0"/>
          <a:ext cx="0" cy="0"/>
          <a:chOff x="0" y="0"/>
          <a:chExt cx="0" cy="0"/>
        </a:xfrm>
      </p:grpSpPr>
      <p:sp>
        <p:nvSpPr>
          <p:cNvPr id="2" name="Text 0"/>
          <p:cNvSpPr/>
          <p:nvPr/>
        </p:nvSpPr>
        <p:spPr>
          <a:xfrm>
            <a:off x="812785" y="81278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0C"/>
                </a:solidFill>
                <a:latin typeface="Be Vietnam Pro" pitchFamily="34" charset="0"/>
                <a:ea typeface="Be Vietnam Pro" pitchFamily="34" charset="-122"/>
                <a:cs typeface="Be Vietnam Pro" pitchFamily="34" charset="-120"/>
              </a:rPr>
              <a:t>KẾT LUẬN</a:t>
            </a:r>
            <a:endParaRPr lang="en-US" sz="1200" dirty="0"/>
          </a:p>
        </p:txBody>
      </p:sp>
      <p:sp>
        <p:nvSpPr>
          <p:cNvPr id="3" name="Text 1"/>
          <p:cNvSpPr/>
          <p:nvPr>
            <p:ph type="title"/>
          </p:nvPr>
        </p:nvSpPr>
        <p:spPr>
          <a:xfrm>
            <a:off x="812785" y="1178508"/>
            <a:ext cx="10883348" cy="434255"/>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Be Vietnam Pro" pitchFamily="34" charset="0"/>
                <a:ea typeface="Be Vietnam Pro" pitchFamily="34" charset="-122"/>
                <a:cs typeface="Be Vietnam Pro" pitchFamily="34" charset="-120"/>
              </a:rPr>
              <a:t>Cách B chính xác hơn, cách A linh hoạt hơn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193" y="1749121"/>
          <a:ext cx="10556950" cy="1780058"/>
        </p:xfrm>
        <a:graphic>
          <a:graphicData uri="http://schemas.openxmlformats.org/drawingml/2006/table">
            <a:tbl>
              <a:tblPr/>
              <a:tblGrid>
                <a:gridCol w="2111390"/>
                <a:gridCol w="4222780"/>
                <a:gridCol w="4222780"/>
              </a:tblGrid>
              <a:tr h="356012">
                <a:tc>
                  <a:txBody>
                    <a:bodyPr/>
                    <a:lstStyle/>
                    <a:p>
                      <a:pPr indent="0" marL="0">
                        <a:lnSpc>
                          <a:spcPts val="1820"/>
                        </a:lnSpc>
                        <a:buNone/>
                      </a:pP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Cách A – Đếm pixel</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1B2B4"/>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tc>
                  <a:txBody>
                    <a:bodyPr/>
                    <a:lstStyle/>
                    <a:p>
                      <a:pPr indent="0" marL="0">
                        <a:lnSpc>
                          <a:spcPts val="1820"/>
                        </a:lnSpc>
                        <a:buNone/>
                      </a:pPr>
                      <a:r>
                        <a:rPr lang="en-US" sz="1300" b="1" dirty="0">
                          <a:solidFill>
                            <a:srgbClr val="1F2933"/>
                          </a:solidFill>
                          <a:latin typeface="Be Vietnam Pro" pitchFamily="34" charset="0"/>
                          <a:ea typeface="Be Vietnam Pro" pitchFamily="34" charset="-122"/>
                          <a:cs typeface="Be Vietnam Pro" pitchFamily="34" charset="-120"/>
                        </a:rPr>
                        <a:t>Cách B – Qua đường kính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1B2B4"/>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tr>
              <a:tr h="356012">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Công thức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S = N · k²</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S = π · d² / 4</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56012">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Ưu điểm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Đơn giản; đo được vật không tròn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Chính xác dưới pixel; tự loại điểm lệch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56012">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Nhược điểm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Đếm lẫn bóng đổ, thành bên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Chỉ dùng cho vật hình tròn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356012">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Thực tế</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CABCB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ABCB1"/>
                      </a:solidFill>
                      <a:prstDash val="solid"/>
                      <a:round/>
                      <a:headEnd type="none" w="med" len="med"/>
                      <a:tailEnd type="none" w="med" len="med"/>
                    </a:lnB>
                    <a:solidFill>
                      <a:srgbClr val="FDEBDD"/>
                    </a:solidFill>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Xu 505,0 · Nắp 693,3 mm²</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ABCB1"/>
                      </a:solidFill>
                      <a:prstDash val="solid"/>
                      <a:round/>
                      <a:headEnd type="none" w="med" len="med"/>
                      <a:tailEnd type="none" w="med" len="med"/>
                    </a:lnL>
                    <a:lnR w="12700" cap="flat" cmpd="sng" algn="ctr">
                      <a:solidFill>
                        <a:srgbClr val="CABCB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ABCB1"/>
                      </a:solidFill>
                      <a:prstDash val="solid"/>
                      <a:round/>
                      <a:headEnd type="none" w="med" len="med"/>
                      <a:tailEnd type="none" w="med" len="med"/>
                    </a:lnB>
                    <a:solidFill>
                      <a:srgbClr val="FDEBDD"/>
                    </a:solidFill>
                  </a:tcPr>
                </a:tc>
                <a:tc>
                  <a:txBody>
                    <a:bodyPr/>
                    <a:lstStyle/>
                    <a:p>
                      <a:pPr indent="0" marL="0">
                        <a:lnSpc>
                          <a:spcPts val="1820"/>
                        </a:lnSpc>
                        <a:buNone/>
                      </a:pPr>
                      <a:r>
                        <a:rPr lang="en-US" sz="1300" dirty="0">
                          <a:solidFill>
                            <a:srgbClr val="1F2933"/>
                          </a:solidFill>
                          <a:latin typeface="Be Vietnam Pro" pitchFamily="34" charset="0"/>
                          <a:ea typeface="Be Vietnam Pro" pitchFamily="34" charset="-122"/>
                          <a:cs typeface="Be Vietnam Pro" pitchFamily="34" charset="-120"/>
                        </a:rPr>
                        <a:t>Xu 506,6 · Nắp 691,3 mm²</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ABCB1"/>
                      </a:solidFill>
                      <a:prstDash val="solid"/>
                      <a:round/>
                      <a:headEnd type="none" w="med" len="med"/>
                      <a:tailEnd type="none" w="med" len="med"/>
                    </a:lnL>
                    <a:lnR w="12700" cap="flat" cmpd="sng" algn="ctr">
                      <a:solidFill>
                        <a:srgbClr val="CABCB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ABCB1"/>
                      </a:solidFill>
                      <a:prstDash val="solid"/>
                      <a:round/>
                      <a:headEnd type="none" w="med" len="med"/>
                      <a:tailEnd type="none" w="med" len="med"/>
                    </a:lnB>
                    <a:solidFill>
                      <a:srgbClr val="FDEBDD"/>
                    </a:solidFill>
                  </a:tcPr>
                </a:tc>
              </a:tr>
            </a:tbl>
          </a:graphicData>
        </a:graphic>
      </p:graphicFrame>
      <p:sp>
        <p:nvSpPr>
          <p:cNvPr id="5" name="Shape 2"/>
          <p:cNvSpPr/>
          <p:nvPr/>
        </p:nvSpPr>
        <p:spPr>
          <a:xfrm>
            <a:off x="812785" y="3681537"/>
            <a:ext cx="10566357" cy="1418387"/>
          </a:xfrm>
          <a:prstGeom prst="roundRect">
            <a:avLst>
              <a:gd name="adj" fmla="val 5372"/>
            </a:avLst>
          </a:prstGeom>
          <a:solidFill>
            <a:srgbClr val="FFFFFF"/>
          </a:solidFill>
          <a:ln/>
        </p:spPr>
      </p:sp>
      <p:sp>
        <p:nvSpPr>
          <p:cNvPr id="6" name="Shape 3"/>
          <p:cNvSpPr/>
          <p:nvPr/>
        </p:nvSpPr>
        <p:spPr>
          <a:xfrm>
            <a:off x="812785" y="3681537"/>
            <a:ext cx="10566357" cy="1418387"/>
          </a:xfrm>
          <a:custGeom>
            <a:avLst/>
            <a:gdLst/>
            <a:ahLst/>
            <a:cxnLst/>
            <a:rect l="l" t="t" r="r" b="b"/>
            <a:pathLst>
              <a:path w="10566357" h="1418387">
                <a:moveTo>
                  <a:pt x="76200" y="1418387"/>
                </a:moveTo>
                <a:lnTo>
                  <a:pt x="76200" y="1418387"/>
                </a:lnTo>
                <a:arcTo hR="76200" wR="76200" stAng="5400000" swAng="5400000"/>
                <a:lnTo>
                  <a:pt x="0" y="76200"/>
                </a:lnTo>
                <a:arcTo hR="76200" wR="76200" stAng="10800000" swAng="5400000"/>
                <a:lnTo>
                  <a:pt x="76200" y="0"/>
                </a:lnTo>
                <a:arcTo hR="76200" wR="38100" stAng="16200000" swAng="-5400000"/>
                <a:lnTo>
                  <a:pt x="38100" y="1342187"/>
                </a:lnTo>
                <a:arcTo hR="76200" wR="38100" stAng="10800000" swAng="-5400000"/>
                <a:close/>
              </a:path>
            </a:pathLst>
          </a:custGeom>
          <a:solidFill>
            <a:srgbClr val="0F766E"/>
          </a:solidFill>
          <a:ln/>
        </p:spPr>
      </p:sp>
      <p:sp>
        <p:nvSpPr>
          <p:cNvPr id="7" name="Text 4"/>
          <p:cNvSpPr/>
          <p:nvPr/>
        </p:nvSpPr>
        <p:spPr>
          <a:xfrm>
            <a:off x="1078986" y="3859324"/>
            <a:ext cx="10373734"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Hướng tiếp theo</a:t>
            </a:r>
            <a:endParaRPr lang="en-US" sz="1600" dirty="0"/>
          </a:p>
        </p:txBody>
      </p:sp>
      <p:sp>
        <p:nvSpPr>
          <p:cNvPr id="8" name="Text 5"/>
          <p:cNvSpPr/>
          <p:nvPr/>
        </p:nvSpPr>
        <p:spPr>
          <a:xfrm>
            <a:off x="1170680" y="4179317"/>
            <a:ext cx="10274420" cy="768218"/>
          </a:xfrm>
          <a:prstGeom prst="rect">
            <a:avLst/>
          </a:prstGeom>
          <a:noFill/>
          <a:ln/>
        </p:spPr>
        <p:txBody>
          <a:bodyPr wrap="square" lIns="0" tIns="0" rIns="0" bIns="0" rtlCol="0" anchor="t">
            <a:normAutofit/>
          </a:bodyPr>
          <a:lstStyle/>
          <a:p>
            <a:pPr algn="l" marL="162306" indent="-162306">
              <a:lnSpc>
                <a:spcPts val="1950"/>
              </a:lnSpc>
              <a:buSzPct val="100000"/>
              <a:buChar char="•"/>
            </a:pPr>
            <a:r>
              <a:rPr lang="en-US" sz="1300" dirty="0">
                <a:solidFill>
                  <a:srgbClr val="4A5568"/>
                </a:solidFill>
                <a:latin typeface="Be Vietnam Pro" pitchFamily="34" charset="0"/>
                <a:ea typeface="Be Vietnam Pro" pitchFamily="34" charset="-122"/>
                <a:cs typeface="Be Vietnam Pro" pitchFamily="34" charset="-120"/>
              </a:rPr>
              <a:t>Hiệu chuẩn ống kính để đo vật ở mọi vị trí trên ảnh</a:t>
            </a:r>
            <a:endParaRPr lang="en-US" sz="1300" dirty="0"/>
          </a:p>
          <a:p>
            <a:pPr algn="l" marL="162306" indent="-162306">
              <a:lnSpc>
                <a:spcPts val="1950"/>
              </a:lnSpc>
              <a:buSzPct val="100000"/>
              <a:buChar char="•"/>
            </a:pPr>
            <a:r>
              <a:rPr lang="en-US" sz="1300" dirty="0">
                <a:solidFill>
                  <a:srgbClr val="4A5568"/>
                </a:solidFill>
                <a:latin typeface="Be Vietnam Pro" pitchFamily="34" charset="0"/>
                <a:ea typeface="Be Vietnam Pro" pitchFamily="34" charset="-122"/>
                <a:cs typeface="Be Vietnam Pro" pitchFamily="34" charset="-120"/>
              </a:rPr>
              <a:t>Kê bàn cờ chính xác hơn; so với thước kẹp, đo lặp nhiều ảnh</a:t>
            </a:r>
            <a:endParaRPr lang="en-US" sz="1300" dirty="0"/>
          </a:p>
          <a:p>
            <a:pPr algn="l" marL="162306" indent="-162306">
              <a:lnSpc>
                <a:spcPts val="1950"/>
              </a:lnSpc>
              <a:buSzPct val="100000"/>
              <a:buChar char="•"/>
            </a:pPr>
            <a:r>
              <a:rPr lang="en-US" sz="1300" dirty="0">
                <a:solidFill>
                  <a:srgbClr val="4A5568"/>
                </a:solidFill>
                <a:latin typeface="Be Vietnam Pro" pitchFamily="34" charset="0"/>
                <a:ea typeface="Be Vietnam Pro" pitchFamily="34" charset="-122"/>
                <a:cs typeface="Be Vietnam Pro" pitchFamily="34" charset="-120"/>
              </a:rPr>
              <a:t>Thay điện thoại bằng camera Basler acA2500-14gm</a:t>
            </a:r>
            <a:endParaRPr lang="en-US" sz="1300" dirty="0"/>
          </a:p>
        </p:txBody>
      </p:sp>
      <p:sp>
        <p:nvSpPr>
          <p:cNvPr id="9" name="Text 6"/>
          <p:cNvSpPr/>
          <p:nvPr/>
        </p:nvSpPr>
        <p:spPr>
          <a:xfrm>
            <a:off x="812785" y="6238218"/>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5"/>
                </a:solidFill>
                <a:latin typeface="Be Vietnam Pro" pitchFamily="34" charset="0"/>
                <a:ea typeface="Be Vietnam Pro" pitchFamily="34" charset="-122"/>
                <a:cs typeface="Be Vietnam Pro" pitchFamily="34" charset="-120"/>
              </a:rPr>
              <a:t>Đo diện tích đồng xu bằng xử lý ảnh · 17</a:t>
            </a:r>
            <a:endParaRPr lang="en-US" sz="1200" dirty="0"/>
          </a:p>
        </p:txBody>
      </p:sp>
    </p:spTree>
  </p:cSld>
  <p:clrMapOvr>
    <a:masterClrMapping/>
  </p:clrMapOvr>
</p:sld>
</file>

<file path=ppt/theme/theme1.xml><?xml version="1.0" encoding="utf-8"?>
<a:theme xmlns:a="http://schemas.openxmlformats.org/drawingml/2006/main" name="Đo diện tích đồng xu bằng xử lý ảnh">
  <a:themeElements>
    <a:clrScheme name="Đo diện tích đồng xu bằng xử lý ảnh">
      <a:dk1>
        <a:srgbClr val="14213D"/>
      </a:dk1>
      <a:lt1>
        <a:srgbClr val="F7F6F2"/>
      </a:lt1>
      <a:dk2>
        <a:srgbClr val="4D566A"/>
      </a:dk2>
      <a:lt2>
        <a:srgbClr val="E0E1E0"/>
      </a:lt2>
      <a:accent1>
        <a:srgbClr val="C2410C"/>
      </a:accent1>
      <a:accent2>
        <a:srgbClr val="0F766E"/>
      </a:accent2>
      <a:accent3>
        <a:srgbClr val="F59E6B"/>
      </a:accent3>
      <a:accent4>
        <a:srgbClr val="9A3412"/>
      </a:accent4>
      <a:accent5>
        <a:srgbClr val="4A5568"/>
      </a:accent5>
      <a:accent6>
        <a:srgbClr val="6B7785"/>
      </a:accent6>
      <a:hlink>
        <a:srgbClr val="0563C1"/>
      </a:hlink>
      <a:folHlink>
        <a:srgbClr val="954F72"/>
      </a:folHlink>
    </a:clrScheme>
    <a:fontScheme name="Đo diện tích đồng xu bằng xử lý ảnh">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Đo diện tích đồng xu bằng xử lý ảnh</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Noto Serif
Copyright 2022 The Noto Project Authors (https://github.com/notofonts/latin-greek-cyrillic)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2026-10-29T11:54:22Z</dcterms:created>
  <dcterms:modified xsi:type="dcterms:W3CDTF">2026-10-29T11:54:22Z</dcterms:modified>
</cp:coreProperties>
</file>